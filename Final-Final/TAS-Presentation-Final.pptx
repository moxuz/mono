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6472" cy="685800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66760" y="0"/>
            <a:ext cx="109728" cy="6858000"/>
          </a:xfrm>
          <a:prstGeom prst="rect">
            <a:avLst/>
          </a:prstGeom>
          <a:solidFill>
            <a:srgbClr val="F0B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78240" y="1371600"/>
            <a:ext cx="2743200" cy="91440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0" y="137160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0B929"/>
                </a:solidFill>
              </a:rPr>
              <a:t>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Trusted Auth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8641080" y="2926080"/>
            <a:ext cx="804672" cy="402336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2944368"/>
            <a:ext cx="804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6E4F7"/>
                </a:solidFill>
              </a:rPr>
              <a:t>Node.js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37192" y="2926080"/>
            <a:ext cx="804672" cy="402336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37192" y="2944368"/>
            <a:ext cx="804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6E4F7"/>
                </a:solidFill>
              </a:rPr>
              <a:t>MongoDB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33304" y="2926080"/>
            <a:ext cx="804672" cy="402336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33304" y="2944368"/>
            <a:ext cx="804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6E4F7"/>
                </a:solidFill>
              </a:rPr>
              <a:t>Redis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41080" y="3474720"/>
            <a:ext cx="804672" cy="402336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3493008"/>
            <a:ext cx="804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6E4F7"/>
                </a:solidFill>
              </a:rPr>
              <a:t>OAuth 2.0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37192" y="3474720"/>
            <a:ext cx="804672" cy="402336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37192" y="3493008"/>
            <a:ext cx="804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6E4F7"/>
                </a:solidFill>
              </a:rPr>
              <a:t>Docker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37160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Trusted Authentication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1031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0B929"/>
                </a:solidFill>
              </a:rPr>
              <a:t>Using Monolithic Architecture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880360"/>
            <a:ext cx="4114800" cy="25400"/>
          </a:xfrm>
          <a:prstGeom prst="rect">
            <a:avLst/>
          </a:prstGeom>
          <a:solidFill>
            <a:srgbClr val="F0B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0175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6E4F7"/>
                </a:solidFill>
              </a:rPr>
              <a:t>ระบบยืนยันตัวตนแบบเชื่อถือได้บนสถาปัตยกรรม Monolithic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749039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นภัทร  มุนินิมิตร  (64050416)   |   ณัฐพล  วงศ์ไวยุทธ  (64050441)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11480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7"/>
                </a:solidFill>
              </a:rPr>
              <a:t>อาจารย์ที่ปรึกษา: ผศ.ดร.กฤษดา บุศรา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48056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F8C8D"/>
                </a:solidFill>
              </a:rPr>
              <a:t>สถาบันเทคโนโลยีพระจอมเกล้าเจ้าคุณทหารลาดกระบัง  |  ปีการศึกษา 2567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0060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F8C8D"/>
                </a:solidFill>
              </a:rPr>
              <a:t>วิทยาการคอมพิวเตอร์  |  Bachelor of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สารบัญการนำเสนอ  /  Table of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777240"/>
            <a:ext cx="8531352" cy="25400"/>
          </a:xfrm>
          <a:prstGeom prst="rect">
            <a:avLst/>
          </a:prstGeom>
          <a:solidFill>
            <a:srgbClr val="F0B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57432" cy="86868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64008" cy="868680"/>
          </a:xfrm>
          <a:prstGeom prst="rect">
            <a:avLst/>
          </a:prstGeom>
          <a:solidFill>
            <a:srgbClr val="6C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61288"/>
            <a:ext cx="548640" cy="640080"/>
          </a:xfrm>
          <a:prstGeom prst="rect">
            <a:avLst/>
          </a:prstGeom>
          <a:solidFill>
            <a:srgbClr val="6C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61288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40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บทนำ — Background &amp; Introduction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128016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C3AA0"/>
                </a:solidFill>
              </a:rPr>
              <a:t>Slides 3–4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75688"/>
            <a:ext cx="11457432" cy="86868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075688"/>
            <a:ext cx="64008" cy="86868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185416"/>
            <a:ext cx="548640" cy="64008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185416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258568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ทฤษฎีที่เกี่ยวข้อง — Literature Review &amp; Tech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2304288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1A4F9C"/>
                </a:solidFill>
              </a:rPr>
              <a:t>Slides 5–7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099816"/>
            <a:ext cx="11457432" cy="86868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099816"/>
            <a:ext cx="64008" cy="868680"/>
          </a:xfrm>
          <a:prstGeom prst="rect">
            <a:avLst/>
          </a:prstGeom>
          <a:solidFill>
            <a:srgbClr val="1B8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209544"/>
            <a:ext cx="548640" cy="640080"/>
          </a:xfrm>
          <a:prstGeom prst="rect">
            <a:avLst/>
          </a:prstGeom>
          <a:solidFill>
            <a:srgbClr val="1B8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209544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282696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วิธีดำเนินการวิจัย — Methodology &amp;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3328416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1B875E"/>
                </a:solidFill>
              </a:rPr>
              <a:t>Slides 8–14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123944"/>
            <a:ext cx="11457432" cy="86868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123944"/>
            <a:ext cx="64008" cy="868680"/>
          </a:xfrm>
          <a:prstGeom prst="rect">
            <a:avLst/>
          </a:prstGeom>
          <a:solidFill>
            <a:srgbClr val="C07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233672"/>
            <a:ext cx="548640" cy="640080"/>
          </a:xfrm>
          <a:prstGeom prst="rect">
            <a:avLst/>
          </a:prstGeom>
          <a:solidFill>
            <a:srgbClr val="C07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233672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306824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ผลการทดสอบ — Testing &amp; Results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4352544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07D1B"/>
                </a:solidFill>
              </a:rPr>
              <a:t>Slides 15–21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148072"/>
            <a:ext cx="11457432" cy="868680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5148072"/>
            <a:ext cx="64008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257800"/>
            <a:ext cx="548640" cy="6400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25780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5330952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สรุปผล — Conclusion &amp; Future Work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537667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0392B"/>
                </a:solidFill>
              </a:rPr>
              <a:t>Slides 22–24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371600"/>
          </a:xfrm>
          <a:prstGeom prst="rect">
            <a:avLst/>
          </a:prstGeom>
          <a:solidFill>
            <a:srgbClr val="F0B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64592"/>
            <a:ext cx="2194560" cy="347472"/>
          </a:xfrm>
          <a:prstGeom prst="rect">
            <a:avLst/>
          </a:prstGeom>
          <a:solidFill>
            <a:srgbClr val="6C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64592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Chapter 1  •  บทนำ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486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Background &amp; 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1155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4F7"/>
                </a:solidFill>
              </a:rPr>
              <a:t>ที่มาและความสำคัญของปัญหา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63040"/>
            <a:ext cx="11731752" cy="1905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554480"/>
            <a:ext cx="5852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4F9C"/>
                </a:solidFill>
              </a:rPr>
              <a:t>ปัญหาและที่มา (Problem Statement)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2C3E50"/>
                </a:solidFill>
              </a:rPr>
              <a:t>• ระบบยืนยันตัวตนมีความสำคัญต่อความปลอดภัยของข้อมูลในยุคดิจิทัล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2C3E50"/>
                </a:solidFill>
              </a:rPr>
              <a:t>• องค์กรส่วนใหญ่ใช้หลายระบบ Auth แยกกัน ทำให้บำรุงรักษายาก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2C3E50"/>
                </a:solidFill>
              </a:rPr>
              <a:t>• พ.ร.บ. คุ้มครองข้อมูลส่วนบุคคล (PDPA 2562) กำหนดให้จัดการ consent และการเข้าถึงข้อมูลอย่างเป็นระบบ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2C3E50"/>
                </a:solidFill>
              </a:rPr>
              <a:t>• มาตรฐาน OAuth 2.0 + PKCE ยังขาดการ implement แบบ centralized ที่ครบถ้วนในระบบขนาดกลาง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600200"/>
            <a:ext cx="26517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600200"/>
            <a:ext cx="2651760" cy="50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67335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Multiple Auth Systems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574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F8C8D"/>
                </a:solidFill>
              </a:rPr>
              <a:t>แต่ละ service ต้องจัดการ auth เอง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1600200"/>
            <a:ext cx="26517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35440" y="1600200"/>
            <a:ext cx="2651760" cy="50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167335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PDPA Non-Compliance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0574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F8C8D"/>
                </a:solidFill>
              </a:rPr>
              <a:t>ไม่มี consent tracking / audit log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154680"/>
            <a:ext cx="26517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3154680"/>
            <a:ext cx="2651760" cy="50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22783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No Central Session Mgmt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6118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F8C8D"/>
                </a:solidFill>
              </a:rPr>
              <a:t>Logout หนึ่งที่ไม่ logout ทุกที่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3154680"/>
            <a:ext cx="26517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0" y="3154680"/>
            <a:ext cx="2651760" cy="50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322783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No OAuth 2.0 Server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36118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F8C8D"/>
                </a:solidFill>
              </a:rPr>
              <a:t>ไม่รองรับ third-party client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371600"/>
          </a:xfrm>
          <a:prstGeom prst="rect">
            <a:avLst/>
          </a:prstGeom>
          <a:solidFill>
            <a:srgbClr val="F0B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64592"/>
            <a:ext cx="2194560" cy="347472"/>
          </a:xfrm>
          <a:prstGeom prst="rect">
            <a:avLst/>
          </a:prstGeom>
          <a:solidFill>
            <a:srgbClr val="6C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64592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Chapter 1  •  บทนำ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486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Objectives &amp;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1155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4F7"/>
                </a:solidFill>
              </a:rPr>
              <a:t>วัตถุประสงค์และขอบเขต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63040"/>
            <a:ext cx="11731752" cy="1905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554480"/>
            <a:ext cx="5577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4F9C"/>
                </a:solidFill>
              </a:rPr>
              <a:t>วัตถุประสงค์ (Objectives)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C3E50"/>
                </a:solidFill>
              </a:rPr>
              <a:t>• พัฒนาระบบยืนยันตัวตนแบบ Monolithic ที่ครบวงจร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C3E50"/>
                </a:solidFill>
              </a:rPr>
              <a:t>• รองรับ OAuth 2.0 Authorization Code + PKCE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C3E50"/>
                </a:solidFill>
              </a:rPr>
              <a:t>• รองรับ OpenID Connect (OIDC) สำหรับ SSO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C3E50"/>
                </a:solidFill>
              </a:rPr>
              <a:t>• จัดการ Session หลายอุปกรณ์พร้อมกัน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C3E50"/>
                </a:solidFill>
              </a:rPr>
              <a:t>• ปฏิบัติตาม PDPA 2562 ครบ 6 มาตรา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C3E50"/>
                </a:solidFill>
              </a:rPr>
              <a:t>• ทดสอบประสิทธิภาพรองรับ 500 VU พร้อมกัน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554480"/>
            <a:ext cx="5577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4F9C"/>
                </a:solidFill>
              </a:rPr>
              <a:t>ขอบเขต (Scope)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C3E50"/>
                </a:solidFill>
              </a:rPr>
              <a:t>• Backend: Node.js + Express.js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C3E50"/>
                </a:solidFill>
              </a:rPr>
              <a:t>• Database: MongoDB + Redis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C3E50"/>
                </a:solidFill>
              </a:rPr>
              <a:t>• Auth: JWT + bcrypt + Passport.js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C3E50"/>
                </a:solidFill>
              </a:rPr>
              <a:t>• Container: Docker + Nginx Load Balancer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C3E50"/>
                </a:solidFill>
              </a:rPr>
              <a:t>• Logging: Apache Kafka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C3E50"/>
                </a:solidFill>
              </a:rPr>
              <a:t>• 3 instances + Redis session sharing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2C3E50"/>
                </a:solidFill>
              </a:rPr>
              <a:t>• Social Login: Google + GitHub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554480"/>
            <a:ext cx="12700" cy="45720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6126480"/>
            <a:ext cx="2194560" cy="54864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26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Easy Maintenance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15184" y="6126480"/>
            <a:ext cx="2194560" cy="548640"/>
          </a:xfrm>
          <a:prstGeom prst="rect">
            <a:avLst/>
          </a:prstGeom>
          <a:solidFill>
            <a:srgbClr val="1B8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15184" y="6126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Fast Deployment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56048" y="6126480"/>
            <a:ext cx="2194560" cy="548640"/>
          </a:xfrm>
          <a:prstGeom prst="rect">
            <a:avLst/>
          </a:prstGeom>
          <a:solidFill>
            <a:srgbClr val="6C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56048" y="6126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Centralized Auth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6126480"/>
            <a:ext cx="2194560" cy="548640"/>
          </a:xfrm>
          <a:prstGeom prst="rect">
            <a:avLst/>
          </a:prstGeom>
          <a:solidFill>
            <a:srgbClr val="F0B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96912" y="6126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PDPA Compliant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37776" y="6126480"/>
            <a:ext cx="2194560" cy="548640"/>
          </a:xfrm>
          <a:prstGeom prst="rect">
            <a:avLst/>
          </a:prstGeom>
          <a:solidFill>
            <a:srgbClr val="C07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37776" y="6126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Scalable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371600"/>
          </a:xfrm>
          <a:prstGeom prst="rect">
            <a:avLst/>
          </a:prstGeom>
          <a:solidFill>
            <a:srgbClr val="F0B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64592"/>
            <a:ext cx="2194560" cy="347472"/>
          </a:xfrm>
          <a:prstGeom prst="rect">
            <a:avLst/>
          </a:prstGeom>
          <a:solidFill>
            <a:srgbClr val="6C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64592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Chapter 2  •  ทฤษฎีที่เกี่ยวข้อง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486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Standards &amp; Related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1155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4F7"/>
                </a:solidFill>
              </a:rPr>
              <a:t>มาตรฐานและงานวิจัยที่เกี่ยวข้อง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63040"/>
            <a:ext cx="11731752" cy="1905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600200"/>
            <a:ext cx="3749039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600200"/>
            <a:ext cx="3749039" cy="5080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16733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RFC 6749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1920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4F9C"/>
                </a:solidFill>
              </a:rPr>
              <a:t>OAuth 2.0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235000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Authorization Framework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600200"/>
            <a:ext cx="3749039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6240" y="1600200"/>
            <a:ext cx="3749039" cy="5080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2" y="16733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RFC 7636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2" y="1920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4F9C"/>
                </a:solidFill>
              </a:rPr>
              <a:t>PKCE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2" y="235000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Proof Key for Code Exchange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1600200"/>
            <a:ext cx="3749039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600200"/>
            <a:ext cx="3749039" cy="5080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2" y="16733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RFC 7519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1920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4F9C"/>
                </a:solidFill>
              </a:rPr>
              <a:t>JWT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235000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JSON Web Token Standard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880360"/>
            <a:ext cx="3749039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2880360"/>
            <a:ext cx="3749039" cy="5080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295351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OpenID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4F9C"/>
                </a:solidFill>
              </a:rPr>
              <a:t>OIDC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" y="363016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OpenID Connect Core 1.0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2880360"/>
            <a:ext cx="3749039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06240" y="2880360"/>
            <a:ext cx="3749039" cy="5080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79392" y="295351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RFC 8414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79392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4F9C"/>
                </a:solidFill>
              </a:rPr>
              <a:t>OIDC Disc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79392" y="363016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OAuth 2.0 Authorization Server Metadata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2880360"/>
            <a:ext cx="3749039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38160" y="2880360"/>
            <a:ext cx="3749039" cy="5080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11312" y="295351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OWASP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1312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4F9C"/>
                </a:solidFill>
              </a:rPr>
              <a:t>Security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2" y="363016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Top 10 API Security Guidelines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4663440"/>
            <a:ext cx="11612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4F9C"/>
                </a:solidFill>
              </a:rPr>
              <a:t>แนวคิดที่เกี่ยวข้อง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Monolithic Architecture: ง่ายต่อการพัฒนา debug และ deploy ในทีมขนาดเล็ก-กลาง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เปรียบเทียบกับ Microservices: latency ต่ำกว่า, complexity น้อยกว่า สำหรับ auth layer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PDPA 2562: กำหนดให้มี consent, audit trail, right to erasure, data portability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371600"/>
          </a:xfrm>
          <a:prstGeom prst="rect">
            <a:avLst/>
          </a:prstGeom>
          <a:solidFill>
            <a:srgbClr val="F0B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64592"/>
            <a:ext cx="2194560" cy="347472"/>
          </a:xfrm>
          <a:prstGeom prst="rect">
            <a:avLst/>
          </a:prstGeom>
          <a:solidFill>
            <a:srgbClr val="6C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64592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Chapter 2  •  ทฤษฎีที่เกี่ยวข้อง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486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1155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4F7"/>
                </a:solidFill>
              </a:rPr>
              <a:t>เทคโนโลยีที่ใช้ในการพัฒนา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63040"/>
            <a:ext cx="11731752" cy="1905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554480"/>
            <a:ext cx="379476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554480"/>
            <a:ext cx="3794760" cy="41148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1554480"/>
            <a:ext cx="3794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Runtime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02996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  ▸  Node.js v18+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53288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  ▸  Express.js v4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03580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  ▸  Passport.js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39" y="1554480"/>
            <a:ext cx="379476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06239" y="1554480"/>
            <a:ext cx="3794760" cy="411480"/>
          </a:xfrm>
          <a:prstGeom prst="rect">
            <a:avLst/>
          </a:prstGeom>
          <a:solidFill>
            <a:srgbClr val="1B8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39" y="1554480"/>
            <a:ext cx="3794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79" y="202996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  ▸  MongoDB v6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79" y="253288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  ▸  Mongoose v8 ODM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79" y="303580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  ▸  Redis v7 Cache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78" y="1554480"/>
            <a:ext cx="379476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83878" y="1554480"/>
            <a:ext cx="3794760" cy="411480"/>
          </a:xfrm>
          <a:prstGeom prst="rect">
            <a:avLst/>
          </a:prstGeom>
          <a:solidFill>
            <a:srgbClr val="6C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78" y="1554480"/>
            <a:ext cx="3794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18" y="202996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  ▸  JWT (HS256)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18" y="253288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  ▸  bcrypt 10 rounds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8" y="303580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  ▸  Helmet.js CSP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3886200"/>
            <a:ext cx="379476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886200"/>
            <a:ext cx="3794760" cy="411480"/>
          </a:xfrm>
          <a:prstGeom prst="rect">
            <a:avLst/>
          </a:prstGeom>
          <a:solidFill>
            <a:srgbClr val="F0B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" y="3886200"/>
            <a:ext cx="3794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Auth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436168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  ▸  OAuth 2.0 + PKCE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486460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  ▸  OpenID Connect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536752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  ▸  Google/GitHub OAuth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39" y="3886200"/>
            <a:ext cx="379476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06239" y="3886200"/>
            <a:ext cx="3794760" cy="411480"/>
          </a:xfrm>
          <a:prstGeom prst="rect">
            <a:avLst/>
          </a:prstGeom>
          <a:solidFill>
            <a:srgbClr val="C07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39" y="3886200"/>
            <a:ext cx="3794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Infra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79" y="436168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  ▸  Docker Compose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486460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  ▸  Nginx Load Balancer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79" y="536752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  ▸  3 App Instances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83878" y="3886200"/>
            <a:ext cx="379476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83878" y="3886200"/>
            <a:ext cx="379476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83878" y="3886200"/>
            <a:ext cx="3794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Observability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18" y="436168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  ▸  Apache Kafka v7.5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18" y="486460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  ▸  Security Audit Log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18" y="536752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  ▸  Admin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371600"/>
          </a:xfrm>
          <a:prstGeom prst="rect">
            <a:avLst/>
          </a:prstGeom>
          <a:solidFill>
            <a:srgbClr val="F0B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64592"/>
            <a:ext cx="2194560" cy="347472"/>
          </a:xfrm>
          <a:prstGeom prst="rect">
            <a:avLst/>
          </a:prstGeom>
          <a:solidFill>
            <a:srgbClr val="6C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64592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Chapter 2  •  ทฤษฎีที่เกี่ยวข้อง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486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OAuth 2.0 + PKCE Authorization Code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1155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4F7"/>
                </a:solidFill>
              </a:rPr>
              <a:t>ขั้นตอนการยืนยันตัวตนด้วย OAuth 2.0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63040"/>
            <a:ext cx="11731752" cy="1905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645920"/>
            <a:ext cx="1783080" cy="146304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64592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148840"/>
            <a:ext cx="1783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Client generates
code_verifier + challenge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1828800"/>
            <a:ext cx="18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C3E50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40280" y="1645920"/>
            <a:ext cx="1783080" cy="1463040"/>
          </a:xfrm>
          <a:prstGeom prst="rect">
            <a:avLst/>
          </a:prstGeom>
          <a:solidFill>
            <a:srgbClr val="6C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0280" y="164592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148840"/>
            <a:ext cx="1783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Redirect to
/api/oauth/authorize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1828800"/>
            <a:ext cx="18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C3E50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1645920"/>
            <a:ext cx="1783080" cy="1463040"/>
          </a:xfrm>
          <a:prstGeom prst="rect">
            <a:avLst/>
          </a:prstGeom>
          <a:solidFill>
            <a:srgbClr val="1B8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164592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2148840"/>
            <a:ext cx="1783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User logs in
&amp; grants consent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1828800"/>
            <a:ext cx="18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C3E50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1645920"/>
            <a:ext cx="1783080" cy="1463040"/>
          </a:xfrm>
          <a:prstGeom prst="rect">
            <a:avLst/>
          </a:prstGeom>
          <a:solidFill>
            <a:srgbClr val="F0B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164592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148840"/>
            <a:ext cx="1783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Auth code
returned to client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1828800"/>
            <a:ext cx="18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C3E50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1645920"/>
            <a:ext cx="1783080" cy="1463040"/>
          </a:xfrm>
          <a:prstGeom prst="rect">
            <a:avLst/>
          </a:prstGeom>
          <a:solidFill>
            <a:srgbClr val="C07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164592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2148840"/>
            <a:ext cx="1783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POST /api/oauth/token
+ code_verifier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1828800"/>
            <a:ext cx="18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C3E50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04120" y="1645920"/>
            <a:ext cx="1783080" cy="1463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04120" y="164592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20" y="2148840"/>
            <a:ext cx="1783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Tokens issued:
access + id + refresh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3337560"/>
            <a:ext cx="5577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4F9C"/>
                </a:solidFill>
              </a:rPr>
              <a:t>PKCE Security Details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code_verifier: 32 random bytes (hex string)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code_challenge: BASE64URL(SHA256(verifier))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method: S256 only (plain rejected)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code expires in 5 minutes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One-time use: replay attack prevented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337560"/>
            <a:ext cx="5577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4F9C"/>
                </a:solidFill>
              </a:rPr>
              <a:t>Token Response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access_token: JWT 1h (sub, email, role, scope)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id_token: JWT 1h (OIDC claims)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refresh_token: JWT 30d (rotation enabled)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Introspect: POST /api/oauth/introspect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Revoke: POST /api/oauth/revoke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3337560"/>
            <a:ext cx="12700" cy="45720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371600"/>
          </a:xfrm>
          <a:prstGeom prst="rect">
            <a:avLst/>
          </a:prstGeom>
          <a:solidFill>
            <a:srgbClr val="F0B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64592"/>
            <a:ext cx="2194560" cy="347472"/>
          </a:xfrm>
          <a:prstGeom prst="rect">
            <a:avLst/>
          </a:prstGeom>
          <a:solidFill>
            <a:srgbClr val="6C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64592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Chapter 3  •  วิธีดำเนินการ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486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1155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4F7"/>
                </a:solidFill>
              </a:rPr>
              <a:t>ภาพรวมสถาปัตยกรรมระบบ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63040"/>
            <a:ext cx="11731752" cy="1905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fd-leve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554480"/>
            <a:ext cx="6858000" cy="49377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269480" y="1600200"/>
            <a:ext cx="457200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69480" y="1600200"/>
            <a:ext cx="63500" cy="749808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1636776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4F9C"/>
                </a:solidFill>
              </a:rPr>
              <a:t>Client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194767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</a:rPr>
              <a:t>Browser / OAuth Client App / Mobile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9480" y="2441448"/>
            <a:ext cx="457200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69480" y="2441448"/>
            <a:ext cx="63500" cy="749808"/>
          </a:xfrm>
          <a:prstGeom prst="rect">
            <a:avLst/>
          </a:prstGeom>
          <a:solidFill>
            <a:srgbClr val="6C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2478024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3AA0"/>
                </a:solidFill>
              </a:rPr>
              <a:t>Gateway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78892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</a:rPr>
              <a:t>Nginx Load Balancer → 3 App Instances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9480" y="3282696"/>
            <a:ext cx="457200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69480" y="3282696"/>
            <a:ext cx="63500" cy="749808"/>
          </a:xfrm>
          <a:prstGeom prst="rect">
            <a:avLst/>
          </a:prstGeom>
          <a:solidFill>
            <a:srgbClr val="1B8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331927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875E"/>
                </a:solidFill>
              </a:rPr>
              <a:t>App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63016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</a:rPr>
              <a:t>Node.js + Express + Passport.js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9480" y="4123944"/>
            <a:ext cx="457200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69480" y="4123944"/>
            <a:ext cx="63500" cy="749808"/>
          </a:xfrm>
          <a:prstGeom prst="rect">
            <a:avLst/>
          </a:prstGeom>
          <a:solidFill>
            <a:srgbClr val="F0B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416052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B929"/>
                </a:solidFill>
              </a:rPr>
              <a:t>Data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4471416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</a:rPr>
              <a:t>MongoDB (persistent) + Redis (cache/session)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69480" y="4965192"/>
            <a:ext cx="457200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69480" y="4965192"/>
            <a:ext cx="63500" cy="7498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0" y="500176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Logging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5312664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</a:rPr>
              <a:t>Apache Kafka + Security Audit DB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69480" y="5806440"/>
            <a:ext cx="457200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69480" y="5806440"/>
            <a:ext cx="63500" cy="749808"/>
          </a:xfrm>
          <a:prstGeom prst="rect">
            <a:avLst/>
          </a:prstGeom>
          <a:solidFill>
            <a:srgbClr val="C07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40" y="5843016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7D1B"/>
                </a:solidFill>
              </a:rPr>
              <a:t>Admin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615391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</a:rPr>
              <a:t>Dashboard: Analytics / Logs / Monitoring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371600"/>
          </a:xfrm>
          <a:prstGeom prst="rect">
            <a:avLst/>
          </a:prstGeom>
          <a:solidFill>
            <a:srgbClr val="F0B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64592"/>
            <a:ext cx="2194560" cy="347472"/>
          </a:xfrm>
          <a:prstGeom prst="rect">
            <a:avLst/>
          </a:prstGeom>
          <a:solidFill>
            <a:srgbClr val="6C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64592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Chapter 3  •  วิธีดำเนินการ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486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 Flow Diagram — Level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1155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4F7"/>
                </a:solidFill>
              </a:rPr>
              <a:t>การแยกย่อยกระบวนการหลัก 5 กระบวนการ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63040"/>
            <a:ext cx="11731752" cy="1905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fd-leve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508760"/>
            <a:ext cx="7132320" cy="50749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406640" y="1600200"/>
            <a:ext cx="44805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06640" y="1600200"/>
            <a:ext cx="502920" cy="82296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1600200"/>
            <a:ext cx="502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164592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4F9C"/>
                </a:solidFill>
              </a:rPr>
              <a:t>User Authentication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03911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</a:rPr>
              <a:t>register / login / logout / social login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2560320"/>
            <a:ext cx="44805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2560320"/>
            <a:ext cx="502920" cy="822960"/>
          </a:xfrm>
          <a:prstGeom prst="rect">
            <a:avLst/>
          </a:prstGeom>
          <a:solidFill>
            <a:srgbClr val="6C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2560320"/>
            <a:ext cx="502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60604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3AA0"/>
                </a:solidFill>
              </a:rPr>
              <a:t>OAuth 2.0 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299923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</a:rPr>
              <a:t>authorize / token / introspect / revoke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3520440"/>
            <a:ext cx="44805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06640" y="3520440"/>
            <a:ext cx="502920" cy="822960"/>
          </a:xfrm>
          <a:prstGeom prst="rect">
            <a:avLst/>
          </a:prstGeom>
          <a:solidFill>
            <a:srgbClr val="1B8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3520440"/>
            <a:ext cx="502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356616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875E"/>
                </a:solidFill>
              </a:rPr>
              <a:t>Session &amp; Token Mgmt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395935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</a:rPr>
              <a:t>create / refresh / revoke tokens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06640" y="4480560"/>
            <a:ext cx="44805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06640" y="4480560"/>
            <a:ext cx="502920" cy="822960"/>
          </a:xfrm>
          <a:prstGeom prst="rect">
            <a:avLst/>
          </a:prstGeom>
          <a:solidFill>
            <a:srgbClr val="F0B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4480560"/>
            <a:ext cx="502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452628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B929"/>
                </a:solidFill>
              </a:rPr>
              <a:t>User Profile Mgmt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491947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</a:rPr>
              <a:t>CRUD / PDPA consent / preferences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06640" y="5440680"/>
            <a:ext cx="44805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06640" y="5440680"/>
            <a:ext cx="502920" cy="8229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40" y="5440680"/>
            <a:ext cx="502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548640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Admin Dashboard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587959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</a:rPr>
              <a:t>analytics / logs / monitoring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371600"/>
          </a:xfrm>
          <a:prstGeom prst="rect">
            <a:avLst/>
          </a:prstGeom>
          <a:solidFill>
            <a:srgbClr val="F0B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64592"/>
            <a:ext cx="2194560" cy="347472"/>
          </a:xfrm>
          <a:prstGeom prst="rect">
            <a:avLst/>
          </a:prstGeom>
          <a:solidFill>
            <a:srgbClr val="6C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64592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Chapter 3  •  วิธีดำเนินการ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486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Use Case Diagram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1155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4F7"/>
                </a:solidFill>
              </a:rPr>
              <a:t>กรณีการใช้งานระบบ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63040"/>
            <a:ext cx="11731752" cy="1905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08760"/>
            <a:ext cx="7589520" cy="50749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863840" y="1554480"/>
            <a:ext cx="4114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0" y="1554480"/>
            <a:ext cx="63500" cy="77724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73568" y="159105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4F9C"/>
                </a:solidFill>
              </a:rPr>
              <a:t>Account Mgmt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1901952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• Register  • Login (Local/Google/GitHub)  • Logout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2423160"/>
            <a:ext cx="4114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0" y="2423160"/>
            <a:ext cx="63500" cy="777240"/>
          </a:xfrm>
          <a:prstGeom prst="rect">
            <a:avLst/>
          </a:prstGeom>
          <a:solidFill>
            <a:srgbClr val="6C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8" y="245973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3AA0"/>
                </a:solidFill>
              </a:rPr>
              <a:t>Password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770632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• Forgot  • Reset  • Change Password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3291840"/>
            <a:ext cx="4114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63840" y="3291840"/>
            <a:ext cx="63500" cy="777240"/>
          </a:xfrm>
          <a:prstGeom prst="rect">
            <a:avLst/>
          </a:prstGeom>
          <a:solidFill>
            <a:srgbClr val="1B8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332841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875E"/>
                </a:solidFill>
              </a:rPr>
              <a:t>Profile &amp; PDPA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3568" y="3639312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• View/Update Profile  • Export Data  • Delete Account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4160520"/>
            <a:ext cx="4114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63840" y="4160520"/>
            <a:ext cx="63500" cy="777240"/>
          </a:xfrm>
          <a:prstGeom prst="rect">
            <a:avLst/>
          </a:prstGeom>
          <a:solidFill>
            <a:srgbClr val="F0B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73568" y="419709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B929"/>
                </a:solidFill>
              </a:rPr>
              <a:t>Session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4507992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• View Sessions  • Revoke Session  • Emergency Lockdown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5029200"/>
            <a:ext cx="4114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63840" y="5029200"/>
            <a:ext cx="63500" cy="777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73568" y="506577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OAuth Server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73568" y="5376672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• Consent  • Token Exchange  • Refresh  • Introspect  • Revoke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63840" y="5897880"/>
            <a:ext cx="4114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863840" y="5897880"/>
            <a:ext cx="63500" cy="777240"/>
          </a:xfrm>
          <a:prstGeom prst="rect">
            <a:avLst/>
          </a:prstGeom>
          <a:solidFill>
            <a:srgbClr val="C07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73568" y="593445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7D1B"/>
                </a:solidFill>
              </a:rPr>
              <a:t>Admin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73568" y="6245352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• User List  • Analytics  • Security Logs  • Monitoring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371600"/>
          </a:xfrm>
          <a:prstGeom prst="rect">
            <a:avLst/>
          </a:prstGeom>
          <a:solidFill>
            <a:srgbClr val="F0B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64592"/>
            <a:ext cx="2194560" cy="347472"/>
          </a:xfrm>
          <a:prstGeom prst="rect">
            <a:avLst/>
          </a:prstGeom>
          <a:solidFill>
            <a:srgbClr val="6C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64592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Chapter 3  •  วิธีดำเนินการ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486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Modules &amp; API Endpoints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1155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4F7"/>
                </a:solidFill>
              </a:rPr>
              <a:t>โมดูลระบบและ API ที่พัฒนา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63040"/>
            <a:ext cx="11731752" cy="1905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600200"/>
            <a:ext cx="5760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600200"/>
            <a:ext cx="5760720" cy="384048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1600200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Auth Module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039112"/>
            <a:ext cx="5577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POST /api/auth/register
POST /api/auth/login
POST /api/auth/logout
POST /api/auth/refresh-token
POST /api/auth/forgot-password
POST /api/auth/reset-password/:token
POST /api/auth/change-password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600200"/>
            <a:ext cx="5760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600200"/>
            <a:ext cx="5760720" cy="384048"/>
          </a:xfrm>
          <a:prstGeom prst="rect">
            <a:avLst/>
          </a:prstGeom>
          <a:solidFill>
            <a:srgbClr val="6C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600200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OAuth Module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039112"/>
            <a:ext cx="5577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GET /api/oauth/authorize
POST /api/oauth/authorize
POST /api/oauth/token
GET /api/oauth/userinfo
POST /api/oauth/introspect
POST /api/oauth/revoke
CRUD /api/oauth/clients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4023360"/>
            <a:ext cx="5760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4023360"/>
            <a:ext cx="5760720" cy="384048"/>
          </a:xfrm>
          <a:prstGeom prst="rect">
            <a:avLst/>
          </a:prstGeom>
          <a:solidFill>
            <a:srgbClr val="1B8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" y="4023360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User Module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4462272"/>
            <a:ext cx="5577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GET /api/users/me
PUT /api/users/profile
GET /api/auth/profile
GET /api/auth/preferences
PUT /api/auth/preferences
DELETE /api/auth/delete-account
GET /api/auth/audit-logs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4023360"/>
            <a:ext cx="5760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4023360"/>
            <a:ext cx="5760720" cy="384048"/>
          </a:xfrm>
          <a:prstGeom prst="rect">
            <a:avLst/>
          </a:prstGeom>
          <a:solidFill>
            <a:srgbClr val="F0B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4023360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Session Module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462272"/>
            <a:ext cx="5577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GET /api/sessions
GET /api/sessions/count
DELETE /api/sessions/:id
POST /api/auth/sessions/revoke
POST /api/auth/sessions/revoke-all-others
POST /api/auth/emergency-lockdown
.well-known/openid-configuration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" y="6492240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4F9C"/>
                </a:solidFill>
              </a:rPr>
              <a:t>Total: 56 API endpoints across 4 main modules + Admin Dashboard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371600"/>
          </a:xfrm>
          <a:prstGeom prst="rect">
            <a:avLst/>
          </a:prstGeom>
          <a:solidFill>
            <a:srgbClr val="F0B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64592"/>
            <a:ext cx="2194560" cy="347472"/>
          </a:xfrm>
          <a:prstGeom prst="rect">
            <a:avLst/>
          </a:prstGeom>
          <a:solidFill>
            <a:srgbClr val="6C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64592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Chapter 3  •  วิธีดำเนินการ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486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Database Schema — ER Diagram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1155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4F7"/>
                </a:solidFill>
              </a:rPr>
              <a:t>โครงสร้างฐานข้อมูล MongoDB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63040"/>
            <a:ext cx="11731752" cy="1905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08760"/>
            <a:ext cx="7132320" cy="50749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452360" y="1572768"/>
            <a:ext cx="44805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52360" y="1572768"/>
            <a:ext cx="50800" cy="658368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1600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4F9C"/>
                </a:solidFill>
              </a:rPr>
              <a:t>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1874520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</a:rPr>
              <a:t>email, password(hashed), role, pdpaConsent, preferences, failedAttempts, lockUntil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52360" y="2322576"/>
            <a:ext cx="44805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52360" y="2322576"/>
            <a:ext cx="50800" cy="658368"/>
          </a:xfrm>
          <a:prstGeom prst="rect">
            <a:avLst/>
          </a:prstGeom>
          <a:solidFill>
            <a:srgbClr val="6C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23500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3AA0"/>
                </a:solidFill>
              </a:rPr>
              <a:t>Session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2624328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</a:rPr>
              <a:t>userId, sessionToken, refreshTokenHash, deviceInfo, ipAddress, TTL 90d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3072384"/>
            <a:ext cx="44805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52360" y="3072384"/>
            <a:ext cx="50800" cy="6583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30998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TokenBlacklist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3374136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</a:rPr>
              <a:t>token, tokenType, userId, reason, expiresAt (auto-delete)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52360" y="3822192"/>
            <a:ext cx="44805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52360" y="3822192"/>
            <a:ext cx="50800" cy="658368"/>
          </a:xfrm>
          <a:prstGeom prst="rect">
            <a:avLst/>
          </a:prstGeom>
          <a:solidFill>
            <a:srgbClr val="1B8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38496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875E"/>
                </a:solidFill>
              </a:rPr>
              <a:t>AuthorizationCode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4123944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</a:rPr>
              <a:t>code, clientId, userId, scope, code_challenge, expiresAt 5min, used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52360" y="4572000"/>
            <a:ext cx="44805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52360" y="4572000"/>
            <a:ext cx="50800" cy="658368"/>
          </a:xfrm>
          <a:prstGeom prst="rect">
            <a:avLst/>
          </a:prstGeom>
          <a:solidFill>
            <a:srgbClr val="F0B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43800" y="45994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B929"/>
                </a:solidFill>
              </a:rPr>
              <a:t>Client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4873752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</a:rPr>
              <a:t>client_id, client_secret(hashed), redirect_uris, grant_types, scope, owner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52360" y="5321808"/>
            <a:ext cx="44805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52360" y="5321808"/>
            <a:ext cx="50800" cy="658368"/>
          </a:xfrm>
          <a:prstGeom prst="rect">
            <a:avLst/>
          </a:prstGeom>
          <a:solidFill>
            <a:srgbClr val="C07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43800" y="5349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7D1B"/>
                </a:solidFill>
              </a:rPr>
              <a:t>Consent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43800" y="5623560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</a:rPr>
              <a:t>userId, clientId, scope, expiresAt 30d (PDPA)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52360" y="6071616"/>
            <a:ext cx="44805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52360" y="6071616"/>
            <a:ext cx="50800" cy="658368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43800" y="60990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F8C8D"/>
                </a:solidFill>
              </a:rPr>
              <a:t>SecurityAudit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43800" y="6373368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</a:rPr>
              <a:t>userId, action, status, ipAddress, metadata, TTL 90d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371600"/>
          </a:xfrm>
          <a:prstGeom prst="rect">
            <a:avLst/>
          </a:prstGeom>
          <a:solidFill>
            <a:srgbClr val="F0B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64592"/>
            <a:ext cx="2194560" cy="347472"/>
          </a:xfrm>
          <a:prstGeom prst="rect">
            <a:avLst/>
          </a:prstGeom>
          <a:solidFill>
            <a:srgbClr val="6C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64592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Chapter 3  •  วิธีดำเนินการ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486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Security Features Implemented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1155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4F7"/>
                </a:solidFill>
              </a:rPr>
              <a:t>ฟีเจอร์ความปลอดภัยที่พัฒนา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63040"/>
            <a:ext cx="11731752" cy="1905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600200"/>
            <a:ext cx="3776472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600200"/>
            <a:ext cx="3776472" cy="384048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1600200"/>
            <a:ext cx="3776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Rate Limiting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057400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Login: 5/15min (email+IP)
Register: 3/hr
OAuth Token: 10/15min
General: 100/15min
Redis-backed, memory fallback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87952" y="1600200"/>
            <a:ext cx="3776472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87952" y="1600200"/>
            <a:ext cx="3776472" cy="384048"/>
          </a:xfrm>
          <a:prstGeom prst="rect">
            <a:avLst/>
          </a:prstGeom>
          <a:solidFill>
            <a:srgbClr val="6C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87952" y="1600200"/>
            <a:ext cx="3776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Token 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9392" y="2057400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JWT access token: 1h
Refresh token: 30d (rotation)
Blacklist on logout/revoke
Theft detection → revoke all sessions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47304" y="1600200"/>
            <a:ext cx="3776472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47304" y="1600200"/>
            <a:ext cx="3776472" cy="384048"/>
          </a:xfrm>
          <a:prstGeom prst="rect">
            <a:avLst/>
          </a:prstGeom>
          <a:solidFill>
            <a:srgbClr val="1B8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47304" y="1600200"/>
            <a:ext cx="3776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Account Protection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057400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bcrypt 10 rounds
Account lockout: 5 fails → 15min
CSRF bypass for API routes
Input validation + sanitization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3840480"/>
            <a:ext cx="3776472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" y="3840480"/>
            <a:ext cx="3776472" cy="384048"/>
          </a:xfrm>
          <a:prstGeom prst="rect">
            <a:avLst/>
          </a:prstGeom>
          <a:solidFill>
            <a:srgbClr val="F0B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8600" y="3840480"/>
            <a:ext cx="3776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PKCE Enforcement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4297680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S256 only (plain rejected)
Code expires: 5 minutes
One-time use (replay prevented)
Code verifier: 32 random bytes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87952" y="3840480"/>
            <a:ext cx="3776472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87952" y="3840480"/>
            <a:ext cx="3776472" cy="384048"/>
          </a:xfrm>
          <a:prstGeom prst="rect">
            <a:avLst/>
          </a:prstGeom>
          <a:solidFill>
            <a:srgbClr val="C07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87952" y="3840480"/>
            <a:ext cx="3776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Security Headers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9392" y="4297680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X-Frame-Options: DENY
X-Content-Type-Options: nosniff
Content-Security-Policy (Helmet)
HSTS (production)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47304" y="3840480"/>
            <a:ext cx="3776472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47304" y="3840480"/>
            <a:ext cx="3776472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47304" y="3840480"/>
            <a:ext cx="3776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Audit &amp; PDPA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8744" y="4297680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Security event logging (Kafka)
Login/logout/password audit trail
Emergency lockdown (all sessions)
Right to erasure &amp; data export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371600"/>
          </a:xfrm>
          <a:prstGeom prst="rect">
            <a:avLst/>
          </a:prstGeom>
          <a:solidFill>
            <a:srgbClr val="F0B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64592"/>
            <a:ext cx="2194560" cy="347472"/>
          </a:xfrm>
          <a:prstGeom prst="rect">
            <a:avLst/>
          </a:prstGeom>
          <a:solidFill>
            <a:srgbClr val="6C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64592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Chapter 3  •  วิธีดำเนินการ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486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PDPA Compliance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1155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4F7"/>
                </a:solidFill>
              </a:rPr>
              <a:t>การปฏิบัติตาม พ.ร.บ. คุ้มครองข้อมูลส่วนบุคคล 2562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63040"/>
            <a:ext cx="11731752" cy="1905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600200"/>
            <a:ext cx="576072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600200"/>
            <a:ext cx="914400" cy="1463040"/>
          </a:xfrm>
          <a:prstGeom prst="rect">
            <a:avLst/>
          </a:prstGeom>
          <a:solidFill>
            <a:srgbClr val="1B8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173736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มาตรา 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23774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169164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875E"/>
                </a:solidFill>
              </a:rPr>
              <a:t>Consent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10312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จัดเก็บ consentEssential, consentAnalytics, cookieConsent
พร้อม timestamp, IP address, policyVersion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600200"/>
            <a:ext cx="576072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600200"/>
            <a:ext cx="914400" cy="146304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173736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มาตรา 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3774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169164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4F9C"/>
                </a:solidFill>
              </a:rPr>
              <a:t>Data Portability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210312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GET /api/users/export — ส่งออกข้อมูลส่วนตัวทั้งหมด
เป็น JSON (สิทธิ์การรับข้อมูลตาม PDPA)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3200400"/>
            <a:ext cx="576072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" y="3200400"/>
            <a:ext cx="914400" cy="1463040"/>
          </a:xfrm>
          <a:prstGeom prst="rect">
            <a:avLst/>
          </a:prstGeom>
          <a:solidFill>
            <a:srgbClr val="6C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8600" y="333756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มาตรา 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" y="3977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329184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3AA0"/>
                </a:solidFill>
              </a:rPr>
              <a:t>Data Rectification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370332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PUT /api/users/profile — แก้ไข username, email
GET/PUT /api/auth/preferences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3200400"/>
            <a:ext cx="576072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3200400"/>
            <a:ext cx="914400" cy="1463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333756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มาตรา 33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3977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329184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Right to Erasure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370332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DELETE /api/auth/delete-account — ทำ soft delete
Anonymize email/username, revoke all sessions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4800600"/>
            <a:ext cx="576072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4800600"/>
            <a:ext cx="914400" cy="1463040"/>
          </a:xfrm>
          <a:prstGeom prst="rect">
            <a:avLst/>
          </a:prstGeom>
          <a:solidFill>
            <a:srgbClr val="F0B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" y="493776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มาตรา 37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" y="55778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489204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B929"/>
                </a:solidFill>
              </a:rPr>
              <a:t>Audit Logging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34440" y="530352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Security event log ทุก action
GET /api/auth/audit-logs (90-day retention)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2200" y="4800600"/>
            <a:ext cx="576072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72200" y="4800600"/>
            <a:ext cx="914400" cy="1463040"/>
          </a:xfrm>
          <a:prstGeom prst="rect">
            <a:avLst/>
          </a:prstGeom>
          <a:solidFill>
            <a:srgbClr val="C07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493776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มาตรา 40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55778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78040" y="489204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7D1B"/>
                </a:solidFill>
              </a:rPr>
              <a:t>Security Measures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78040" y="530352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bcrypt, JWT rotation, rate limiting, Helmet.js headers
Kafka distributed security logging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371600"/>
          </a:xfrm>
          <a:prstGeom prst="rect">
            <a:avLst/>
          </a:prstGeom>
          <a:solidFill>
            <a:srgbClr val="F0B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64592"/>
            <a:ext cx="2194560" cy="347472"/>
          </a:xfrm>
          <a:prstGeom prst="rect">
            <a:avLst/>
          </a:prstGeom>
          <a:solidFill>
            <a:srgbClr val="6C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64592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Chapter 4  •  ผลการทดสอบ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486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Test Strategy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1155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4F7"/>
                </a:solidFill>
              </a:rPr>
              <a:t>กลยุทธ์การทดสอบระบบ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63040"/>
            <a:ext cx="11731752" cy="1905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572768"/>
            <a:ext cx="1920240" cy="384048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" y="157276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Test 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8840" y="1572768"/>
            <a:ext cx="1691640" cy="384048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48840" y="1572768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Tool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1572768"/>
            <a:ext cx="777240" cy="384048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1572768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17720" y="1572768"/>
            <a:ext cx="777240" cy="384048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572768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Passed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94960" y="1572768"/>
            <a:ext cx="914400" cy="384048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1572768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Result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572768"/>
            <a:ext cx="3749039" cy="384048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572768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Notes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2011680"/>
            <a:ext cx="1920240" cy="6583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" y="2011680"/>
            <a:ext cx="50800" cy="658368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800" y="2011680"/>
            <a:ext cx="1844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Unit/Integration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48840" y="2011680"/>
            <a:ext cx="1691640" cy="6583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25040" y="2011680"/>
            <a:ext cx="1615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Jest v29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2011680"/>
            <a:ext cx="777240" cy="6583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16680" y="2011680"/>
            <a:ext cx="701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104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17720" y="2011680"/>
            <a:ext cx="777240" cy="6583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93920" y="2011680"/>
            <a:ext cx="701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104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94960" y="2011680"/>
            <a:ext cx="914400" cy="6583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71160" y="2011680"/>
            <a:ext cx="838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875E"/>
                </a:solidFill>
              </a:rPr>
              <a:t>100%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2011680"/>
            <a:ext cx="3749039" cy="6583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5560" y="2011680"/>
            <a:ext cx="36728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6 files, 27 groups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2724912"/>
            <a:ext cx="19202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28600" y="2724912"/>
            <a:ext cx="50800" cy="658368"/>
          </a:xfrm>
          <a:prstGeom prst="rect">
            <a:avLst/>
          </a:prstGeom>
          <a:solidFill>
            <a:srgbClr val="6C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4800" y="2724912"/>
            <a:ext cx="1844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API Functional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48840" y="2724912"/>
            <a:ext cx="16916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25040" y="2724912"/>
            <a:ext cx="1615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Postman/Newman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0" y="2724912"/>
            <a:ext cx="7772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16680" y="2724912"/>
            <a:ext cx="701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31 req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17720" y="2724912"/>
            <a:ext cx="7772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93920" y="2724912"/>
            <a:ext cx="701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69/69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94960" y="2724912"/>
            <a:ext cx="9144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1160" y="2724912"/>
            <a:ext cx="838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875E"/>
                </a:solidFill>
              </a:rPr>
              <a:t>98.6%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2724912"/>
            <a:ext cx="3749039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85560" y="2724912"/>
            <a:ext cx="36728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6 groups, 1 timeout (logout)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" y="3438144"/>
            <a:ext cx="1920240" cy="6583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28600" y="3438144"/>
            <a:ext cx="50800" cy="658368"/>
          </a:xfrm>
          <a:prstGeom prst="rect">
            <a:avLst/>
          </a:prstGeom>
          <a:solidFill>
            <a:srgbClr val="1B8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4800" y="3438144"/>
            <a:ext cx="1844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E2E Browser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148840" y="3438144"/>
            <a:ext cx="1691640" cy="6583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25040" y="3438144"/>
            <a:ext cx="1615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Playwright v1.x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40480" y="3438144"/>
            <a:ext cx="777240" cy="6583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16680" y="3438144"/>
            <a:ext cx="701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186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17720" y="3438144"/>
            <a:ext cx="777240" cy="6583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93920" y="3438144"/>
            <a:ext cx="701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182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394960" y="3438144"/>
            <a:ext cx="914400" cy="6583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71160" y="3438144"/>
            <a:ext cx="838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875E"/>
                </a:solidFill>
              </a:rPr>
              <a:t>97.8%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09360" y="3438144"/>
            <a:ext cx="3749039" cy="6583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85560" y="3438144"/>
            <a:ext cx="36728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4 skipped (state dependency)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28600" y="4151376"/>
            <a:ext cx="19202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28600" y="4151376"/>
            <a:ext cx="50800" cy="658368"/>
          </a:xfrm>
          <a:prstGeom prst="rect">
            <a:avLst/>
          </a:prstGeom>
          <a:solidFill>
            <a:srgbClr val="F0B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04800" y="4151376"/>
            <a:ext cx="1844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Performance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148840" y="4151376"/>
            <a:ext cx="16916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225040" y="4151376"/>
            <a:ext cx="1615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k6 v1.7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40480" y="4151376"/>
            <a:ext cx="7772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916680" y="4151376"/>
            <a:ext cx="701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4 scen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617720" y="4151376"/>
            <a:ext cx="7772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693920" y="4151376"/>
            <a:ext cx="701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✓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394960" y="4151376"/>
            <a:ext cx="9144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71160" y="4151376"/>
            <a:ext cx="838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B929"/>
                </a:solidFill>
              </a:rPr>
              <a:t>44.4 r/s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09360" y="4151376"/>
            <a:ext cx="3749039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85560" y="4151376"/>
            <a:ext cx="36728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100VU+500VU × login+profile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28600" y="4864608"/>
            <a:ext cx="1920240" cy="6583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28600" y="4864608"/>
            <a:ext cx="50800" cy="658368"/>
          </a:xfrm>
          <a:prstGeom prst="rect">
            <a:avLst/>
          </a:prstGeom>
          <a:solidFill>
            <a:srgbClr val="C07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04800" y="4864608"/>
            <a:ext cx="1844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Security Scan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148840" y="4864608"/>
            <a:ext cx="1691640" cy="6583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225040" y="4864608"/>
            <a:ext cx="1615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OWASP ZAP v2.16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840480" y="4864608"/>
            <a:ext cx="777240" cy="6583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916680" y="4864608"/>
            <a:ext cx="701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55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617720" y="4864608"/>
            <a:ext cx="777240" cy="6583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693920" y="4864608"/>
            <a:ext cx="701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55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394960" y="4864608"/>
            <a:ext cx="914400" cy="6583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471160" y="4864608"/>
            <a:ext cx="838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B929"/>
                </a:solidFill>
              </a:rPr>
              <a:t>0 FAIL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309360" y="4864608"/>
            <a:ext cx="3749039" cy="6583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85560" y="4864608"/>
            <a:ext cx="36728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12 WARN (CSP, dev env)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28600" y="5577840"/>
            <a:ext cx="19202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28600" y="5577840"/>
            <a:ext cx="50800" cy="6583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800" y="5577840"/>
            <a:ext cx="1844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UAT Manual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148840" y="5577840"/>
            <a:ext cx="16916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225040" y="5577840"/>
            <a:ext cx="1615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5 Users × 15 cases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840480" y="5577840"/>
            <a:ext cx="7772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916680" y="5577840"/>
            <a:ext cx="701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15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17720" y="5577840"/>
            <a:ext cx="7772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693920" y="5577840"/>
            <a:ext cx="701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15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394960" y="5577840"/>
            <a:ext cx="9144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471160" y="5577840"/>
            <a:ext cx="838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B929"/>
                </a:solidFill>
              </a:rPr>
              <a:t>4.70/5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309360" y="5577840"/>
            <a:ext cx="3749039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385560" y="5577840"/>
            <a:ext cx="36728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Avg satisfaction 4.70/5.0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371600"/>
          </a:xfrm>
          <a:prstGeom prst="rect">
            <a:avLst/>
          </a:prstGeom>
          <a:solidFill>
            <a:srgbClr val="F0B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64592"/>
            <a:ext cx="2194560" cy="347472"/>
          </a:xfrm>
          <a:prstGeom prst="rect">
            <a:avLst/>
          </a:prstGeom>
          <a:solidFill>
            <a:srgbClr val="6C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64592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Chapter 4  •  ผลการทดสอบ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486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Unit &amp; Integration Testing — Jest v29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1155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4F7"/>
                </a:solidFill>
              </a:rPr>
              <a:t>ผลการทดสอบหน่วยและการรวมระบบ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63040"/>
            <a:ext cx="11731752" cy="1905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572768"/>
            <a:ext cx="21488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572768"/>
            <a:ext cx="2148840" cy="5080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1682496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4F9C"/>
                </a:solidFill>
              </a:rPr>
              <a:t>104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216712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</a:rPr>
              <a:t>Total Test Cases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1572768"/>
            <a:ext cx="21488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80" y="1572768"/>
            <a:ext cx="2148840" cy="50800"/>
          </a:xfrm>
          <a:prstGeom prst="rect">
            <a:avLst/>
          </a:prstGeom>
          <a:solidFill>
            <a:srgbClr val="1B8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0" y="1682496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875E"/>
                </a:solidFill>
              </a:rPr>
              <a:t>104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16712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</a:rPr>
              <a:t>Passed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9160" y="1572768"/>
            <a:ext cx="21488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09160" y="1572768"/>
            <a:ext cx="2148840" cy="50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1682496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0392B"/>
                </a:solidFill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16712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</a:rPr>
              <a:t>Failed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1572768"/>
            <a:ext cx="21488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49440" y="1572768"/>
            <a:ext cx="2148840" cy="5080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1682496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4F9C"/>
                </a:solidFill>
              </a:rP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216712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</a:rPr>
              <a:t>Pass Rate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89720" y="1572768"/>
            <a:ext cx="26974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89720" y="1572768"/>
            <a:ext cx="2697480" cy="50800"/>
          </a:xfrm>
          <a:prstGeom prst="rect">
            <a:avLst/>
          </a:prstGeom>
          <a:solidFill>
            <a:srgbClr val="6C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9720" y="1682496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6C3AA0"/>
                </a:solidFill>
              </a:rPr>
              <a:t>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167128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</a:rPr>
              <a:t>Test Groups / 6 Files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2926080"/>
            <a:ext cx="11704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2926080"/>
            <a:ext cx="50800" cy="548640"/>
          </a:xfrm>
          <a:prstGeom prst="rect">
            <a:avLst/>
          </a:prstGeom>
          <a:solidFill>
            <a:srgbClr val="1B8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" y="29718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875E"/>
                </a:solidFill>
              </a:rPr>
              <a:t>✓  1-auth-core.test.js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" y="3227832"/>
            <a:ext cx="6858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Register, Login, Logout, Token Operations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3063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B875E"/>
                </a:solidFill>
              </a:rPr>
              <a:t>22 tests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3538728"/>
            <a:ext cx="11704320" cy="5486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28600" y="3538728"/>
            <a:ext cx="50800" cy="548640"/>
          </a:xfrm>
          <a:prstGeom prst="rect">
            <a:avLst/>
          </a:prstGeom>
          <a:solidFill>
            <a:srgbClr val="1B8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" y="358444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875E"/>
                </a:solidFill>
              </a:rPr>
              <a:t>✓  2-auth-password.test.js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" y="3840480"/>
            <a:ext cx="6858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Change Password, Forgot Password, Reset Password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36758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B875E"/>
                </a:solidFill>
              </a:rPr>
              <a:t>13 tests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" y="4151376"/>
            <a:ext cx="11704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28600" y="4151376"/>
            <a:ext cx="50800" cy="548640"/>
          </a:xfrm>
          <a:prstGeom prst="rect">
            <a:avLst/>
          </a:prstGeom>
          <a:solidFill>
            <a:srgbClr val="1B8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7472" y="4197096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875E"/>
                </a:solidFill>
              </a:rPr>
              <a:t>✓  3-auth-sessions.test.js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472" y="4453128"/>
            <a:ext cx="6858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Get Sessions, Revoke, Emergency Lockdown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428853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B875E"/>
                </a:solidFill>
              </a:rPr>
              <a:t>13 tests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" y="4764024"/>
            <a:ext cx="11704320" cy="5486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28600" y="4764024"/>
            <a:ext cx="50800" cy="548640"/>
          </a:xfrm>
          <a:prstGeom prst="rect">
            <a:avLst/>
          </a:prstGeom>
          <a:solidFill>
            <a:srgbClr val="1B8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7472" y="4809744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875E"/>
                </a:solidFill>
              </a:rPr>
              <a:t>✓  4-auth-profile.test.js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7472" y="5065776"/>
            <a:ext cx="6858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Profile, Preferences, Cookie Consent, Delete Account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490118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B875E"/>
                </a:solidFill>
              </a:rPr>
              <a:t>19 tests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600" y="5376672"/>
            <a:ext cx="11704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28600" y="5376672"/>
            <a:ext cx="50800" cy="548640"/>
          </a:xfrm>
          <a:prstGeom prst="rect">
            <a:avLst/>
          </a:prstGeom>
          <a:solidFill>
            <a:srgbClr val="1B8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7472" y="5422392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875E"/>
                </a:solidFill>
              </a:rPr>
              <a:t>✓  5-oauth.test.js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7472" y="5678424"/>
            <a:ext cx="6858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Client CRUD, PKCE Auth Flow, Userinfo, Introspect, Revoke, Scope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0" y="55138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B875E"/>
                </a:solidFill>
              </a:rPr>
              <a:t>25 tests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600" y="5989320"/>
            <a:ext cx="11704320" cy="5486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28600" y="5989320"/>
            <a:ext cx="50800" cy="548640"/>
          </a:xfrm>
          <a:prstGeom prst="rect">
            <a:avLst/>
          </a:prstGeom>
          <a:solidFill>
            <a:srgbClr val="1B8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7472" y="603504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875E"/>
                </a:solidFill>
              </a:rPr>
              <a:t>✓  6-security.test.js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7472" y="6291072"/>
            <a:ext cx="6858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Account Lockout, Blacklisting, Session Theft, Injection, Headers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1264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B875E"/>
                </a:solidFill>
              </a:rPr>
              <a:t>12 tests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371600"/>
          </a:xfrm>
          <a:prstGeom prst="rect">
            <a:avLst/>
          </a:prstGeom>
          <a:solidFill>
            <a:srgbClr val="F0B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64592"/>
            <a:ext cx="2194560" cy="347472"/>
          </a:xfrm>
          <a:prstGeom prst="rect">
            <a:avLst/>
          </a:prstGeom>
          <a:solidFill>
            <a:srgbClr val="6C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64592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Chapter 4  •  ผลการทดสอบ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486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API Functional Testing — Postman / Newman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1155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4F7"/>
                </a:solidFill>
              </a:rPr>
              <a:t>ผลการทดสอบ API ด้วย Postman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63040"/>
            <a:ext cx="11731752" cy="1905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572768"/>
            <a:ext cx="23317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572768"/>
            <a:ext cx="2331720" cy="5080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1682496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4F9C"/>
                </a:solidFill>
              </a:rPr>
              <a:t>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216712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</a:rPr>
              <a:t>Requests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1572768"/>
            <a:ext cx="23317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51760" y="1572768"/>
            <a:ext cx="2331720" cy="50800"/>
          </a:xfrm>
          <a:prstGeom prst="rect">
            <a:avLst/>
          </a:prstGeom>
          <a:solidFill>
            <a:srgbClr val="1B8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1682496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875E"/>
                </a:solidFill>
              </a:rPr>
              <a:t>69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16712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</a:rPr>
              <a:t>Assertions Passed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74920" y="1572768"/>
            <a:ext cx="23317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74920" y="1572768"/>
            <a:ext cx="2331720" cy="50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1682496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0392B"/>
                </a:solidFill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216712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</a:rPr>
              <a:t>Failed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79" y="1572768"/>
            <a:ext cx="23317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98079" y="1572768"/>
            <a:ext cx="2331720" cy="5080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79" y="1682496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4F9C"/>
                </a:solidFill>
              </a:rPr>
              <a:t>98.6%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216712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</a:rPr>
              <a:t>Pass Rate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21240" y="1572768"/>
            <a:ext cx="20116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921240" y="1572768"/>
            <a:ext cx="2011680" cy="50800"/>
          </a:xfrm>
          <a:prstGeom prst="rect">
            <a:avLst/>
          </a:prstGeom>
          <a:solidFill>
            <a:srgbClr val="6C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21240" y="168249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6C3AA0"/>
                </a:solidFill>
              </a:rPr>
              <a:t>1m 20s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216712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</a:rPr>
              <a:t>Runtime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2834640"/>
            <a:ext cx="117043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2834640"/>
            <a:ext cx="50800" cy="475488"/>
          </a:xfrm>
          <a:prstGeom prst="rect">
            <a:avLst/>
          </a:prstGeom>
          <a:solidFill>
            <a:srgbClr val="1B8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" y="285292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875E"/>
                </a:solidFill>
              </a:rPr>
              <a:t>✓  00 — Health &amp; Well-Known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" y="3081528"/>
            <a:ext cx="8961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GET /health (200, uptime), GET /.well-known/openid-configuration (RFC 8414)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29260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B875E"/>
                </a:solidFill>
              </a:rPr>
              <a:t>4 assertions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3364992"/>
            <a:ext cx="11704320" cy="47548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28600" y="3364992"/>
            <a:ext cx="50800" cy="475488"/>
          </a:xfrm>
          <a:prstGeom prst="rect">
            <a:avLst/>
          </a:prstGeom>
          <a:solidFill>
            <a:srgbClr val="1B8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" y="338328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875E"/>
                </a:solidFill>
              </a:rPr>
              <a:t>✓  01 — Authentication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" y="3611880"/>
            <a:ext cx="8961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Register (201), Login valid/invalid, Profile, Refresh, Forgot-Password, Logout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345643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B875E"/>
                </a:solidFill>
              </a:rPr>
              <a:t>16 assertions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" y="3895344"/>
            <a:ext cx="117043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28600" y="3895344"/>
            <a:ext cx="50800" cy="475488"/>
          </a:xfrm>
          <a:prstGeom prst="rect">
            <a:avLst/>
          </a:prstGeom>
          <a:solidFill>
            <a:srgbClr val="1B8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7472" y="3913632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875E"/>
                </a:solidFill>
              </a:rPr>
              <a:t>✓  02 — User Management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472" y="4142232"/>
            <a:ext cx="8961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GET /users/me, PUT /users/profile, unauthenticated → 401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398678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B875E"/>
                </a:solidFill>
              </a:rPr>
              <a:t>8 assertions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" y="4425696"/>
            <a:ext cx="11704320" cy="47548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28600" y="4425696"/>
            <a:ext cx="50800" cy="475488"/>
          </a:xfrm>
          <a:prstGeom prst="rect">
            <a:avLst/>
          </a:prstGeom>
          <a:solidFill>
            <a:srgbClr val="1B8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7472" y="4443984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875E"/>
                </a:solidFill>
              </a:rPr>
              <a:t>✓  03 — Sessions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7472" y="4672584"/>
            <a:ext cx="8961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GET /sessions, POST revoke-all-others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451713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B875E"/>
                </a:solidFill>
              </a:rPr>
              <a:t>6 assertions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600" y="4956048"/>
            <a:ext cx="117043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28600" y="4956048"/>
            <a:ext cx="50800" cy="475488"/>
          </a:xfrm>
          <a:prstGeom prst="rect">
            <a:avLst/>
          </a:prstGeom>
          <a:solidFill>
            <a:srgbClr val="1B8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7472" y="4974336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875E"/>
                </a:solidFill>
              </a:rPr>
              <a:t>✓  04 — OAuth 2.0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7472" y="5202936"/>
            <a:ext cx="8961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Client register/list, Introspect, Userinfo, Revoke token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0" y="504748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B875E"/>
                </a:solidFill>
              </a:rPr>
              <a:t>15 assertions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600" y="5486400"/>
            <a:ext cx="11704320" cy="47548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28600" y="5486400"/>
            <a:ext cx="50800" cy="475488"/>
          </a:xfrm>
          <a:prstGeom prst="rect">
            <a:avLst/>
          </a:prstGeom>
          <a:solidFill>
            <a:srgbClr val="1B8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7472" y="550468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875E"/>
                </a:solidFill>
              </a:rPr>
              <a:t>✓  05 — Security Headers &amp; Rate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7472" y="5733288"/>
            <a:ext cx="8961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X-Frame-Options, X-Content-Type-Options, CSP, No X-Powered-By, 404 handling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55778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B875E"/>
                </a:solidFill>
              </a:rPr>
              <a:t>10 assertions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8600" y="6016752"/>
            <a:ext cx="117043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28600" y="6016752"/>
            <a:ext cx="50800" cy="475488"/>
          </a:xfrm>
          <a:prstGeom prst="rect">
            <a:avLst/>
          </a:prstGeom>
          <a:solidFill>
            <a:srgbClr val="1B8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7472" y="603504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875E"/>
                </a:solidFill>
              </a:rPr>
              <a:t>✓  06 — Dashboard (Admin)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7472" y="6263640"/>
            <a:ext cx="8961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GET /dashboard/monitoring, /logs, /analytics → 401 without auth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61081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B875E"/>
                </a:solidFill>
              </a:rPr>
              <a:t>6 assertions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371600"/>
          </a:xfrm>
          <a:prstGeom prst="rect">
            <a:avLst/>
          </a:prstGeom>
          <a:solidFill>
            <a:srgbClr val="F0B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64592"/>
            <a:ext cx="2194560" cy="347472"/>
          </a:xfrm>
          <a:prstGeom prst="rect">
            <a:avLst/>
          </a:prstGeom>
          <a:solidFill>
            <a:srgbClr val="6C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64592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Chapter 4  •  ผลการทดสอบ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486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E2E Browser Testing — Playwright v1.x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1155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4F7"/>
                </a:solidFill>
              </a:rPr>
              <a:t>ผลการทดสอบแบบ End-to-End ด้วย Playwright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63040"/>
            <a:ext cx="11731752" cy="1905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572768"/>
            <a:ext cx="23317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572768"/>
            <a:ext cx="2331720" cy="5080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1682496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4F9C"/>
                </a:solidFill>
              </a:rPr>
              <a:t>186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216712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</a:rPr>
              <a:t>Total Tests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1572768"/>
            <a:ext cx="23317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51760" y="1572768"/>
            <a:ext cx="2331720" cy="50800"/>
          </a:xfrm>
          <a:prstGeom prst="rect">
            <a:avLst/>
          </a:prstGeom>
          <a:solidFill>
            <a:srgbClr val="1B8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1682496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875E"/>
                </a:solidFill>
              </a:rPr>
              <a:t>182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16712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</a:rPr>
              <a:t>Passed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74920" y="1572768"/>
            <a:ext cx="23317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74920" y="1572768"/>
            <a:ext cx="2331720" cy="50800"/>
          </a:xfrm>
          <a:prstGeom prst="rect">
            <a:avLst/>
          </a:prstGeom>
          <a:solidFill>
            <a:srgbClr val="F0B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1682496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0B929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216712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</a:rPr>
              <a:t>Skipped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79" y="1572768"/>
            <a:ext cx="23317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98079" y="1572768"/>
            <a:ext cx="2331720" cy="5080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79" y="1682496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4F9C"/>
                </a:solidFill>
              </a:rPr>
              <a:t>97.8%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216712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</a:rPr>
              <a:t>Pass Rate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21240" y="1572768"/>
            <a:ext cx="20116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921240" y="1572768"/>
            <a:ext cx="2011680" cy="50800"/>
          </a:xfrm>
          <a:prstGeom prst="rect">
            <a:avLst/>
          </a:prstGeom>
          <a:solidFill>
            <a:srgbClr val="6C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21240" y="168249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6C3AA0"/>
                </a:solidFill>
              </a:rPr>
              <a:t>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216712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</a:rPr>
              <a:t>Describe Groups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2788920"/>
            <a:ext cx="5577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4F9C"/>
                </a:solidFill>
              </a:rPr>
              <a:t>Test Groups (selected)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</a:rPr>
              <a:t>• 02 — Register (valid/duplicate/missing consent)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</a:rPr>
              <a:t>• 03 — Login (valid/wrong/missing)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</a:rPr>
              <a:t>• 04 — Profile &amp; Token (validate, refresh)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</a:rPr>
              <a:t>• 05 — Reset Password (flow complete)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</a:rPr>
              <a:t>• 06 — Forgot Password (email sent)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</a:rPr>
              <a:t>• 08 — Security Headers (CSP, X-Frame etc.)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</a:rPr>
              <a:t>• 09 — Rate Limiting (429 after limit)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</a:rPr>
              <a:t>• 10 — Input Validation (XSS, NoSQL injection)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</a:rPr>
              <a:t>• 11 — Session Management (list, revoke)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</a:rPr>
              <a:t>• 14 — OAuth Client Register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2788920"/>
            <a:ext cx="5577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4F9C"/>
                </a:solidFill>
              </a:rPr>
              <a:t>(continued)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</a:rPr>
              <a:t>• 15 — Token Introspect (active/inactive)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</a:rPr>
              <a:t>• 16 — Token Revoke + verify blacklisted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</a:rPr>
              <a:t>• 17 — Refresh Token Rotation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</a:rPr>
              <a:t>• 18 — Emergency Lockdown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</a:rPr>
              <a:t>• 19 — Admin Logs, Analytics, Monitoring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</a:rPr>
              <a:t>• 20 — Preferences (theme, language)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</a:rPr>
              <a:t>• 21 — Audit Log retrieval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</a:rPr>
              <a:t>• 22 — Cookie Consent update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</a:rPr>
              <a:t>• 24 — Client App Pages (OAuth flow)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</a:rPr>
              <a:t>• 28–30 — Public/User/Admin Page Rendering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2788920"/>
            <a:ext cx="12700" cy="45720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8600" y="6492240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0B929"/>
                </a:solidFill>
              </a:rPr>
              <a:t>⚠ 4 skipped: state-dependent tests (depend on prior test context)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371600"/>
          </a:xfrm>
          <a:prstGeom prst="rect">
            <a:avLst/>
          </a:prstGeom>
          <a:solidFill>
            <a:srgbClr val="F0B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64592"/>
            <a:ext cx="2194560" cy="347472"/>
          </a:xfrm>
          <a:prstGeom prst="rect">
            <a:avLst/>
          </a:prstGeom>
          <a:solidFill>
            <a:srgbClr val="6C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64592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Chapter 4  •  ผลการทดสอบ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486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Performance Load Testing — k6 v1.7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1155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4F7"/>
                </a:solidFill>
              </a:rPr>
              <a:t>ผลการทดสอบประสิทธิภาพด้วย k6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63040"/>
            <a:ext cx="11731752" cy="1905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572768"/>
            <a:ext cx="28346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572768"/>
            <a:ext cx="2834640" cy="5080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1682496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4F9C"/>
                </a:solidFill>
              </a:rPr>
              <a:t>44.4 r/s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2167128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</a:rPr>
              <a:t>Throughput (thesis)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80" y="1572768"/>
            <a:ext cx="28346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54680" y="1572768"/>
            <a:ext cx="2834640" cy="50800"/>
          </a:xfrm>
          <a:prstGeom prst="rect">
            <a:avLst/>
          </a:prstGeom>
          <a:solidFill>
            <a:srgbClr val="1B8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1682496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875E"/>
                </a:solidFill>
              </a:rPr>
              <a:t>0.47%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2167128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</a:rPr>
              <a:t>Error Rate (thesis)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1572768"/>
            <a:ext cx="28346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0760" y="1572768"/>
            <a:ext cx="2834640" cy="50800"/>
          </a:xfrm>
          <a:prstGeom prst="rect">
            <a:avLst/>
          </a:prstGeom>
          <a:solidFill>
            <a:srgbClr val="6C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1682496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6C3AA0"/>
                </a:solidFill>
              </a:rPr>
              <a:t>~896ms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2167128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</a:rPr>
              <a:t>Profile avg (100VU)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06840" y="1572768"/>
            <a:ext cx="28346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06840" y="1572768"/>
            <a:ext cx="2834640" cy="50800"/>
          </a:xfrm>
          <a:prstGeom prst="rect">
            <a:avLst/>
          </a:prstGeom>
          <a:solidFill>
            <a:srgbClr val="F0B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6840" y="1682496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0B929"/>
                </a:solidFill>
              </a:rPr>
              <a:t>9,999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2167128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</a:rPr>
              <a:t>Requests in 3:45 (thesis)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2834640"/>
            <a:ext cx="11704320" cy="36576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Scenario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Duration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Endpoint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Notes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3291840"/>
            <a:ext cx="11704320" cy="5943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336499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4F9C"/>
                </a:solidFill>
              </a:rPr>
              <a:t>login_100vu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34290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100 VUs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34290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45s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3429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POST /api/auth/login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3429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</a:rPr>
              <a:t>p95 &lt; 8000ms threshold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3931920"/>
            <a:ext cx="117043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40050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4F9C"/>
                </a:solidFill>
              </a:rPr>
              <a:t>profile_100vu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60320" y="40690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100 VUs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31920" y="4069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45s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4069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GET /api/auth/profile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4069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</a:rPr>
              <a:t>p95 &lt; 3000ms threshold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" y="4572000"/>
            <a:ext cx="11704320" cy="5943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464515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B929"/>
                </a:solidFill>
              </a:rPr>
              <a:t>login_500vu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60320" y="4709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500 VUs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31920" y="47091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60s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46320" y="4709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POST /api/auth/login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80960" y="4709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</a:rPr>
              <a:t>Rate limiter protection active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600" y="5212080"/>
            <a:ext cx="117043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528523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B929"/>
                </a:solidFill>
              </a:rPr>
              <a:t>profile_500vu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60320" y="5349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500 VUs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31920" y="5349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60s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46320" y="5349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GET /api/auth/profile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5349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</a:rPr>
              <a:t>Profile: avg ~982ms, p95 ~3.2s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8600" y="6126480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875E"/>
                </a:solidFill>
              </a:rPr>
              <a:t>✓ Architecture: Nginx + 3 App Instances + Redis shared session → horizontal scaling + automatic failover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371600"/>
          </a:xfrm>
          <a:prstGeom prst="rect">
            <a:avLst/>
          </a:prstGeom>
          <a:solidFill>
            <a:srgbClr val="F0B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64592"/>
            <a:ext cx="2194560" cy="347472"/>
          </a:xfrm>
          <a:prstGeom prst="rect">
            <a:avLst/>
          </a:prstGeom>
          <a:solidFill>
            <a:srgbClr val="6C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64592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Chapter 4  •  ผลการทดสอบ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486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Security Testing — OWASP ZAP v2.16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1155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4F7"/>
                </a:solidFill>
              </a:rPr>
              <a:t>ผลการทดสอบความปลอดภัยด้วย OWASP ZAP Baseline Scan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63040"/>
            <a:ext cx="11731752" cy="1905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572768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572768"/>
            <a:ext cx="2743200" cy="50800"/>
          </a:xfrm>
          <a:prstGeom prst="rect">
            <a:avLst/>
          </a:prstGeom>
          <a:solidFill>
            <a:srgbClr val="1B8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1682496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875E"/>
                </a:solidFill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216712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</a:rPr>
              <a:t>FAIL (Critical/High)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3240" y="1572768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572768"/>
            <a:ext cx="2743200" cy="50800"/>
          </a:xfrm>
          <a:prstGeom prst="rect">
            <a:avLst/>
          </a:prstGeom>
          <a:solidFill>
            <a:srgbClr val="1B8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63240" y="1682496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875E"/>
                </a:solidFill>
              </a:rPr>
              <a:t>55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216712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</a:rPr>
              <a:t>PASS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97880" y="1572768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97880" y="1572768"/>
            <a:ext cx="2743200" cy="50800"/>
          </a:xfrm>
          <a:prstGeom prst="rect">
            <a:avLst/>
          </a:prstGeom>
          <a:solidFill>
            <a:srgbClr val="F0B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97880" y="1682496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0B929"/>
                </a:solidFill>
              </a:rP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216712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</a:rPr>
              <a:t>WARN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32520" y="1572768"/>
            <a:ext cx="31546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32520" y="1572768"/>
            <a:ext cx="3154680" cy="5080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32520" y="1682496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4F9C"/>
                </a:solidFill>
              </a:rPr>
              <a:t>42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2167128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</a:rPr>
              <a:t>URLs Scanned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2834640"/>
            <a:ext cx="5577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4F9C"/>
                </a:solidFill>
              </a:rPr>
              <a:t>PASS Checks (55)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✓ No SQL/NoSQL Injection vulnerabilities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✓ No XSS (Cross-Site Scripting) vectors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✓ No authentication bypass found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✓ No sensitive data exposure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✓ No broken access control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✓ X-Frame-Options: DENY set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✓ X-Content-Type-Options: nosniff set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✓ No X-Powered-By header (server fingerprint removed)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834640"/>
            <a:ext cx="5577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4F9C"/>
                </a:solidFill>
              </a:rPr>
              <a:t>WARN Items (12) — dev only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⚠ Content-Security-Policy — script-src relaxed for dev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⚠ Anti-CSRF token not detected on some forms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⚠ Cookie without Secure flag (HTTP dev env)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⚠ Permissions-Policy header missing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ℹ Note: 12 WARNs are development-environment artifacts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ℹ Production config: HTTPS + HSTS + strict CSP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</a:rPr>
              <a:t>• ℹ ZAP baseline scan: 5–8 min runtime via Docker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2834640"/>
            <a:ext cx="12700" cy="45720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371600"/>
          </a:xfrm>
          <a:prstGeom prst="rect">
            <a:avLst/>
          </a:prstGeom>
          <a:solidFill>
            <a:srgbClr val="F0B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64592"/>
            <a:ext cx="2194560" cy="347472"/>
          </a:xfrm>
          <a:prstGeom prst="rect">
            <a:avLst/>
          </a:prstGeom>
          <a:solidFill>
            <a:srgbClr val="6C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64592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Chapter 4  •  ผลการทดสอบ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486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User Acceptance Testing (UAT)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1155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4F7"/>
                </a:solidFill>
              </a:rPr>
              <a:t>ผลการทดสอบการยอมรับจากผู้ใช้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63040"/>
            <a:ext cx="11731752" cy="1905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572768"/>
            <a:ext cx="23317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572768"/>
            <a:ext cx="2331720" cy="5080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1682496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4F9C"/>
                </a:solidFill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216712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</a:rPr>
              <a:t>Testers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1572768"/>
            <a:ext cx="23317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51760" y="1572768"/>
            <a:ext cx="2331720" cy="50800"/>
          </a:xfrm>
          <a:prstGeom prst="rect">
            <a:avLst/>
          </a:prstGeom>
          <a:solidFill>
            <a:srgbClr val="6C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1682496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6C3AA0"/>
                </a:solidFill>
              </a:rPr>
              <a:t>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16712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</a:rPr>
              <a:t>Test Cases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74920" y="1572768"/>
            <a:ext cx="23317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74920" y="1572768"/>
            <a:ext cx="2331720" cy="50800"/>
          </a:xfrm>
          <a:prstGeom prst="rect">
            <a:avLst/>
          </a:prstGeom>
          <a:solidFill>
            <a:srgbClr val="1B8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1682496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875E"/>
                </a:solidFill>
              </a:rPr>
              <a:t>15/15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216712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</a:rPr>
              <a:t>Passed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79" y="1572768"/>
            <a:ext cx="23317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98079" y="1572768"/>
            <a:ext cx="2331720" cy="50800"/>
          </a:xfrm>
          <a:prstGeom prst="rect">
            <a:avLst/>
          </a:prstGeom>
          <a:solidFill>
            <a:srgbClr val="F0B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79" y="1682496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0B929"/>
                </a:solidFill>
              </a:rPr>
              <a:t>4.70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216712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</a:rPr>
              <a:t>Avg Score /5.0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21240" y="1572768"/>
            <a:ext cx="20116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921240" y="1572768"/>
            <a:ext cx="2011680" cy="50800"/>
          </a:xfrm>
          <a:prstGeom prst="rect">
            <a:avLst/>
          </a:prstGeom>
          <a:solidFill>
            <a:srgbClr val="1B8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21240" y="168249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875E"/>
                </a:solidFill>
              </a:rPr>
              <a:t>100%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216712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</a:rPr>
              <a:t>Acceptance 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" y="283464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4F9C"/>
                </a:solidFill>
              </a:rPr>
              <a:t>คะแนนความพึงพอใจแยกตามเกณฑ์ (5 คะแนน)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3246120"/>
            <a:ext cx="69494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" y="331927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ความสอดคล้องกับข้อกำหนด (Requirement Compliance)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0" y="3355848"/>
            <a:ext cx="1463040" cy="31089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0" y="3355848"/>
            <a:ext cx="1375257" cy="310896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0" y="333756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4F9C"/>
                </a:solidFill>
              </a:rPr>
              <a:t>4.70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3886200"/>
            <a:ext cx="69494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" y="395935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ความถูกต้องของฟังก์ชัน (Functional Correctness)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0" y="3995928"/>
            <a:ext cx="1463040" cy="31089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0" y="3995928"/>
            <a:ext cx="1389888" cy="310896"/>
          </a:xfrm>
          <a:prstGeom prst="rect">
            <a:avLst/>
          </a:prstGeom>
          <a:solidFill>
            <a:srgbClr val="1B8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0" y="397764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875E"/>
                </a:solidFill>
              </a:rPr>
              <a:t>4.75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4526280"/>
            <a:ext cx="69494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7472" y="459943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ความง่ายในการใช้งาน (Ease of Use)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0" y="4636008"/>
            <a:ext cx="1463040" cy="31089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0" y="4636008"/>
            <a:ext cx="1360627" cy="310896"/>
          </a:xfrm>
          <a:prstGeom prst="rect">
            <a:avLst/>
          </a:prstGeom>
          <a:solidFill>
            <a:srgbClr val="6C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40880" y="461772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3AA0"/>
                </a:solidFill>
              </a:rPr>
              <a:t>4.65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5166360"/>
            <a:ext cx="69494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7472" y="523951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ความปลอดภัย (Security)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0" y="5276088"/>
            <a:ext cx="1463040" cy="31089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486400" y="5276088"/>
            <a:ext cx="1404518" cy="31089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40880" y="525780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4.80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8600" y="5806440"/>
            <a:ext cx="69494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7472" y="587959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ประสิทธิภาพ (Performance)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0" y="5916168"/>
            <a:ext cx="1463040" cy="31089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86400" y="5916168"/>
            <a:ext cx="1345996" cy="310896"/>
          </a:xfrm>
          <a:prstGeom prst="rect">
            <a:avLst/>
          </a:prstGeom>
          <a:solidFill>
            <a:srgbClr val="F0B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40880" y="589788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B929"/>
                </a:solidFill>
              </a:rPr>
              <a:t>4.60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86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875E"/>
                </a:solidFill>
              </a:rPr>
              <a:t>Overall Average:  4.70 / 5.0  →  ระดับดีมาก (Very Good)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80960" y="1600200"/>
            <a:ext cx="4206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C3AA0"/>
                </a:solidFill>
              </a:rPr>
              <a:t>15 UAT Test Cases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C3E50"/>
                </a:solidFill>
              </a:rPr>
              <a:t>• TC-01: Register with PDPA consent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C3E50"/>
                </a:solidFill>
              </a:rPr>
              <a:t>• TC-02: Login &amp; receive JWT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C3E50"/>
                </a:solidFill>
              </a:rPr>
              <a:t>• TC-03: Refresh token rotation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C3E50"/>
                </a:solidFill>
              </a:rPr>
              <a:t>• TC-04: View/update profile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C3E50"/>
                </a:solidFill>
              </a:rPr>
              <a:t>• TC-05: Change password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C3E50"/>
                </a:solidFill>
              </a:rPr>
              <a:t>• TC-06: Forgot/Reset password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C3E50"/>
                </a:solidFill>
              </a:rPr>
              <a:t>• TC-07: Manage sessions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C3E50"/>
                </a:solidFill>
              </a:rPr>
              <a:t>• TC-08: Emergency lockdown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C3E50"/>
                </a:solidFill>
              </a:rPr>
              <a:t>• TC-09: OAuth client register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C3E50"/>
                </a:solidFill>
              </a:rPr>
              <a:t>• TC-10: OAuth consent flow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C3E50"/>
                </a:solidFill>
              </a:rPr>
              <a:t>• TC-11: Token introspect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C3E50"/>
                </a:solidFill>
              </a:rPr>
              <a:t>• TC-12: Admin dashboard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C3E50"/>
                </a:solidFill>
              </a:rPr>
              <a:t>• TC-13: Security audit logs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C3E50"/>
                </a:solidFill>
              </a:rPr>
              <a:t>• TC-14: Export personal data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C3E50"/>
                </a:solidFill>
              </a:rPr>
              <a:t>• TC-15: Delete account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371600"/>
          </a:xfrm>
          <a:prstGeom prst="rect">
            <a:avLst/>
          </a:prstGeom>
          <a:solidFill>
            <a:srgbClr val="F0B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64592"/>
            <a:ext cx="2194560" cy="347472"/>
          </a:xfrm>
          <a:prstGeom prst="rect">
            <a:avLst/>
          </a:prstGeom>
          <a:solidFill>
            <a:srgbClr val="6C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64592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Chapter 5  •  สรุปผล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486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 &amp; Achievement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1155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4F7"/>
                </a:solidFill>
              </a:rPr>
              <a:t>สรุปผลการดำเนินงานและความสำเร็จ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63040"/>
            <a:ext cx="11731752" cy="1905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600200"/>
            <a:ext cx="5577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b="1" sz="1300">
                <a:solidFill>
                  <a:srgbClr val="2C3E50"/>
                </a:solidFill>
              </a:rPr>
              <a:t>• Functional Requirements (FR-01–FR-12)</a:t>
            </a:r>
          </a:p>
          <a:p>
            <a:pPr algn="l"/>
            <a:r>
              <a:rPr sz="1200">
                <a:solidFill>
                  <a:srgbClr val="7F8C8D"/>
                </a:solidFill>
              </a:rPr>
              <a:t>    – FR-01: User Registration + PDPA consent ✓</a:t>
            </a:r>
          </a:p>
          <a:p>
            <a:pPr algn="l"/>
            <a:r>
              <a:rPr sz="1200">
                <a:solidFill>
                  <a:srgbClr val="7F8C8D"/>
                </a:solidFill>
              </a:rPr>
              <a:t>    – FR-02: Login (local + Google + GitHub) ✓</a:t>
            </a:r>
          </a:p>
          <a:p>
            <a:pPr algn="l"/>
            <a:r>
              <a:rPr sz="1200">
                <a:solidFill>
                  <a:srgbClr val="7F8C8D"/>
                </a:solidFill>
              </a:rPr>
              <a:t>    – FR-03: JWT + Refresh Token rotation ✓</a:t>
            </a:r>
          </a:p>
          <a:p>
            <a:pPr algn="l"/>
            <a:r>
              <a:rPr sz="1200">
                <a:solidFill>
                  <a:srgbClr val="7F8C8D"/>
                </a:solidFill>
              </a:rPr>
              <a:t>    – FR-04: Password management (forgot/reset/change) ✓</a:t>
            </a:r>
          </a:p>
          <a:p>
            <a:pPr algn="l"/>
            <a:r>
              <a:rPr sz="1200">
                <a:solidFill>
                  <a:srgbClr val="7F8C8D"/>
                </a:solidFill>
              </a:rPr>
              <a:t>    – FR-05: Multi-session management ✓</a:t>
            </a:r>
          </a:p>
          <a:p>
            <a:pPr algn="l"/>
            <a:r>
              <a:rPr sz="1200">
                <a:solidFill>
                  <a:srgbClr val="7F8C8D"/>
                </a:solidFill>
              </a:rPr>
              <a:t>    – FR-06: OAuth 2.0 + PKCE server ✓</a:t>
            </a:r>
          </a:p>
          <a:p>
            <a:pPr algn="l"/>
            <a:r>
              <a:rPr sz="1200">
                <a:solidFill>
                  <a:srgbClr val="7F8C8D"/>
                </a:solidFill>
              </a:rPr>
              <a:t>    – FR-07: OpenID Connect + OIDC Discovery ✓</a:t>
            </a:r>
          </a:p>
          <a:p>
            <a:pPr algn="l"/>
            <a:r>
              <a:rPr sz="1200">
                <a:solidFill>
                  <a:srgbClr val="7F8C8D"/>
                </a:solidFill>
              </a:rPr>
              <a:t>    – FR-08: PDPA consent + data export + erasure ✓</a:t>
            </a:r>
          </a:p>
          <a:p>
            <a:pPr algn="l"/>
            <a:r>
              <a:rPr sz="1200">
                <a:solidFill>
                  <a:srgbClr val="7F8C8D"/>
                </a:solidFill>
              </a:rPr>
              <a:t>    – FR-09: Security audit logging ✓</a:t>
            </a:r>
          </a:p>
          <a:p>
            <a:pPr algn="l"/>
            <a:r>
              <a:rPr sz="1200">
                <a:solidFill>
                  <a:srgbClr val="7F8C8D"/>
                </a:solidFill>
              </a:rPr>
              <a:t>    – FR-10: Admin dashboard ✓</a:t>
            </a:r>
          </a:p>
          <a:p>
            <a:pPr algn="l"/>
            <a:r>
              <a:rPr sz="1200">
                <a:solidFill>
                  <a:srgbClr val="7F8C8D"/>
                </a:solidFill>
              </a:rPr>
              <a:t>    – FR-11: Rate limiting + account lockout ✓</a:t>
            </a:r>
          </a:p>
          <a:p>
            <a:pPr algn="l"/>
            <a:r>
              <a:rPr sz="1200">
                <a:solidFill>
                  <a:srgbClr val="7F8C8D"/>
                </a:solidFill>
              </a:rPr>
              <a:t>    – FR-12: Emergency lockdown 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600200"/>
            <a:ext cx="5577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b="1" sz="1300">
                <a:solidFill>
                  <a:srgbClr val="2C3E50"/>
                </a:solidFill>
              </a:rPr>
              <a:t>• Non-Functional Requirements (NFR-01–NFR-07)</a:t>
            </a:r>
          </a:p>
          <a:p>
            <a:pPr algn="l"/>
            <a:r>
              <a:rPr sz="1200">
                <a:solidFill>
                  <a:srgbClr val="7F8C8D"/>
                </a:solidFill>
              </a:rPr>
              <a:t>    – NFR-01: Performance — p95 &lt; 1.2s at 100VU ✓</a:t>
            </a:r>
          </a:p>
          <a:p>
            <a:pPr algn="l"/>
            <a:r>
              <a:rPr sz="1200">
                <a:solidFill>
                  <a:srgbClr val="7F8C8D"/>
                </a:solidFill>
              </a:rPr>
              <a:t>    – NFR-02: Security — 0 Critical/High ZAP ✓</a:t>
            </a:r>
          </a:p>
          <a:p>
            <a:pPr algn="l"/>
            <a:r>
              <a:rPr sz="1200">
                <a:solidFill>
                  <a:srgbClr val="7F8C8D"/>
                </a:solidFill>
              </a:rPr>
              <a:t>    – NFR-03: Availability — 3 instance failover ✓</a:t>
            </a:r>
          </a:p>
          <a:p>
            <a:pPr algn="l"/>
            <a:r>
              <a:rPr sz="1200">
                <a:solidFill>
                  <a:srgbClr val="7F8C8D"/>
                </a:solidFill>
              </a:rPr>
              <a:t>    – NFR-04: Scalability — Nginx + Redis cluster ✓</a:t>
            </a:r>
          </a:p>
          <a:p>
            <a:pPr algn="l"/>
            <a:r>
              <a:rPr sz="1200">
                <a:solidFill>
                  <a:srgbClr val="7F8C8D"/>
                </a:solidFill>
              </a:rPr>
              <a:t>    – NFR-05: Maintainability — Monolithic, modular ✓</a:t>
            </a:r>
          </a:p>
          <a:p>
            <a:pPr algn="l"/>
            <a:r>
              <a:rPr sz="1200">
                <a:solidFill>
                  <a:srgbClr val="7F8C8D"/>
                </a:solidFill>
              </a:rPr>
              <a:t>    – NFR-06: PDPA compliance — 6 sections covered ✓</a:t>
            </a:r>
          </a:p>
          <a:p>
            <a:pPr algn="l"/>
            <a:r>
              <a:rPr sz="1200">
                <a:solidFill>
                  <a:srgbClr val="7F8C8D"/>
                </a:solidFill>
              </a:rPr>
              <a:t>    – NFR-07: Logging — Kafka + audit trail 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600200"/>
            <a:ext cx="12700" cy="45720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371600"/>
          </a:xfrm>
          <a:prstGeom prst="rect">
            <a:avLst/>
          </a:prstGeom>
          <a:solidFill>
            <a:srgbClr val="F0B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64592"/>
            <a:ext cx="2194560" cy="347472"/>
          </a:xfrm>
          <a:prstGeom prst="rect">
            <a:avLst/>
          </a:prstGeom>
          <a:solidFill>
            <a:srgbClr val="6C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64592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Chapter 5  •  สรุปผล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486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Future Work &amp; 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1155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4F7"/>
                </a:solidFill>
              </a:rPr>
              <a:t>งานวิจัยในอนาคตและข้อเสนอแนะ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63040"/>
            <a:ext cx="11731752" cy="1905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600200"/>
            <a:ext cx="576072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600200"/>
            <a:ext cx="5760720" cy="41148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60020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🔐 Authentication Enhancements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1031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  ▸  Biometric (Fingerprint / Face Recognition)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4688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  ▸  WebAuthn / FIDO2 Passwordless Login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8346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  ▸  Risk-Based Authentication (RBA)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2004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  ▸  Device fingerprinting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35661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  ▸  OAuth 2.1 support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600200"/>
            <a:ext cx="576072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600200"/>
            <a:ext cx="5760720" cy="411480"/>
          </a:xfrm>
          <a:prstGeom prst="rect">
            <a:avLst/>
          </a:prstGeom>
          <a:solidFill>
            <a:srgbClr val="1B8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60020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⚡ Performance &amp; Scalability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1031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  ▸  Redis Cluster for HA session storage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4688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  ▸  MongoDB sharding for large datasets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8346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  ▸  CDN for static asset delivery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2004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  ▸  API response caching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5661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  ▸  Kubernetes auto-scaling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4069080"/>
            <a:ext cx="576072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4069080"/>
            <a:ext cx="576072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406908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🛡 Security Improvements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45720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  ▸  SIEM integration for threat detection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49377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  ▸  Automated penetration testing CI/CD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53035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  ▸  Real-time security alerting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56692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  ▸  Regular vulnerability scanning pipeline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60350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  ▸  Zero-trust network policy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4069080"/>
            <a:ext cx="576072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2200" y="4069080"/>
            <a:ext cx="5760720" cy="411480"/>
          </a:xfrm>
          <a:prstGeom prst="rect">
            <a:avLst/>
          </a:prstGeom>
          <a:solidFill>
            <a:srgbClr val="F0B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406908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📊 Monitoring &amp; Analytics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45720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  ▸  Real-time analytics 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49377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  ▸  PDF/Excel export for compliance reports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53035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  ▸  User behavior analytics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56692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  ▸  Customizable alert thresholds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60350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  ▸  OpenTelemetry distributed tracing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B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2971800"/>
            <a:ext cx="12079224" cy="25400"/>
          </a:xfrm>
          <a:prstGeom prst="rect">
            <a:avLst/>
          </a:prstGeom>
          <a:solidFill>
            <a:srgbClr val="F0B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สรุป  /  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320040" cy="320040"/>
          </a:xfrm>
          <a:prstGeom prst="rect">
            <a:avLst/>
          </a:prstGeom>
          <a:solidFill>
            <a:srgbClr val="F0B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40"/>
                </a:solidFill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584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พัฒนาระบบยืนยันตัวตนแบบ Monolithic ที่ครบวงจร รองรับ OAuth 2.0 + PKCE + OIDC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89888"/>
            <a:ext cx="320040" cy="320040"/>
          </a:xfrm>
          <a:prstGeom prst="rect">
            <a:avLst/>
          </a:prstGeom>
          <a:solidFill>
            <a:srgbClr val="F0B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8988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40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89888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ผ่านการทดสอบ 6 ประเภท: Jest 100% | Newman 98.6% | Playwright 97.8% | UAT 4.70/5.0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73936"/>
            <a:ext cx="320040" cy="320040"/>
          </a:xfrm>
          <a:prstGeom prst="rect">
            <a:avLst/>
          </a:prstGeom>
          <a:solidFill>
            <a:srgbClr val="F0B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77393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40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773936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ปฏิบัติตาม PDPA 2562 ครบทุกมาตราที่กำหนด (มาตรา 19, 27, 28, 33, 37, 40)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57984"/>
            <a:ext cx="320040" cy="320040"/>
          </a:xfrm>
          <a:prstGeom prst="rect">
            <a:avLst/>
          </a:prstGeom>
          <a:solidFill>
            <a:srgbClr val="F0B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5798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40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157984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รองรับการ scale ด้วย Nginx + 3 instances + Redis shared session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542032"/>
            <a:ext cx="320040" cy="320040"/>
          </a:xfrm>
          <a:prstGeom prst="rect">
            <a:avLst/>
          </a:prstGeom>
          <a:solidFill>
            <a:srgbClr val="F0B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54203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40"/>
                </a:solidFill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54203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0 Critical/High vulnerabilities จาก OWASP ZAP Baseline Scan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200400"/>
            <a:ext cx="2103120" cy="1005840"/>
          </a:xfrm>
          <a:prstGeom prst="rect">
            <a:avLst/>
          </a:prstGeom>
          <a:solidFill>
            <a:srgbClr val="1A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218688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0B929"/>
                </a:solidFill>
              </a:rPr>
              <a:t>104/104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7490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4F7"/>
                </a:solidFill>
              </a:rPr>
              <a:t>Jest Tests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97480" y="3200400"/>
            <a:ext cx="2103120" cy="1005840"/>
          </a:xfrm>
          <a:prstGeom prst="rect">
            <a:avLst/>
          </a:prstGeom>
          <a:solidFill>
            <a:srgbClr val="1A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97480" y="3218688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0B929"/>
                </a:solidFill>
              </a:rPr>
              <a:t>182/186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37490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4F7"/>
                </a:solidFill>
              </a:rPr>
              <a:t>Playwright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0" y="3200400"/>
            <a:ext cx="2103120" cy="1005840"/>
          </a:xfrm>
          <a:prstGeom prst="rect">
            <a:avLst/>
          </a:prstGeom>
          <a:solidFill>
            <a:srgbClr val="1A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60" y="3218688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0B929"/>
                </a:solidFill>
              </a:rPr>
              <a:t>69/69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37490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4F7"/>
                </a:solidFill>
              </a:rPr>
              <a:t>Newman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78040" y="3200400"/>
            <a:ext cx="2103120" cy="1005840"/>
          </a:xfrm>
          <a:prstGeom prst="rect">
            <a:avLst/>
          </a:prstGeom>
          <a:solidFill>
            <a:srgbClr val="1A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78040" y="3218688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0B929"/>
                </a:solidFill>
              </a:rPr>
              <a:t>4.70/5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37490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4F7"/>
                </a:solidFill>
              </a:rPr>
              <a:t>UAT Score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18320" y="3200400"/>
            <a:ext cx="2103120" cy="1005840"/>
          </a:xfrm>
          <a:prstGeom prst="rect">
            <a:avLst/>
          </a:prstGeom>
          <a:solidFill>
            <a:srgbClr val="1A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20" y="3218688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0B929"/>
                </a:solidFill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37490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4F7"/>
                </a:solidFill>
              </a:rPr>
              <a:t>Critical CVEs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43484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0B929"/>
                </a:solidFill>
              </a:rPr>
              <a:t>ขอบคุณ  /  Thank You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7"/>
                </a:solidFill>
              </a:rPr>
              <a:t>นภัทร มุนินิมิตร  •  ณัฐพล วงศ์ไวยุทธ  |  ปีการศึกษา 2567  |  KMITL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394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F8C8D"/>
                </a:solidFill>
              </a:rPr>
              <a:t>Advisor: Asst. Prof. Kritsada Busra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0" y="365760"/>
            <a:ext cx="3200400" cy="1234440"/>
          </a:xfrm>
          <a:prstGeom prst="rect">
            <a:avLst/>
          </a:prstGeom>
          <a:solidFill>
            <a:srgbClr val="1A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0" y="411480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0B929"/>
                </a:solidFill>
              </a:rPr>
              <a:t>56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11155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Total API Endpoints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0" y="1783080"/>
            <a:ext cx="3200400" cy="1234440"/>
          </a:xfrm>
          <a:prstGeom prst="rect">
            <a:avLst/>
          </a:prstGeom>
          <a:solidFill>
            <a:srgbClr val="1A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0" y="1828800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0B929"/>
                </a:solidFill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25328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Docker Services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686800" y="3200400"/>
            <a:ext cx="3200400" cy="1234440"/>
          </a:xfrm>
          <a:prstGeom prst="rect">
            <a:avLst/>
          </a:prstGeom>
          <a:solidFill>
            <a:srgbClr val="1A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86800" y="3246120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0B929"/>
                </a:solidFill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39502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MongoDB Collections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86800" y="4617720"/>
            <a:ext cx="3200400" cy="1234440"/>
          </a:xfrm>
          <a:prstGeom prst="rect">
            <a:avLst/>
          </a:prstGeom>
          <a:solidFill>
            <a:srgbClr val="1A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86800" y="4663440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0B929"/>
                </a:solidFill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53675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Test Types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