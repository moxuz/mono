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88952" cy="310896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TRUSTED AUTHENTICATION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 i="0">
                <a:solidFill>
                  <a:srgbClr val="CCE0FF"/>
                </a:solidFill>
              </a:rPr>
              <a:t>การพัฒนาโปรแกรมยืนยันตัวตนแบบบูรณาการระหว่างระบบงานตาม PDPA ด้วย Monolithic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77639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นายณภัทร มุนินทร์นิมิตต์  |  นายณัฐพล ว่องไวยุทธ์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CE0FF"/>
                </a:solidFill>
              </a:rPr>
              <a:t>ภาควิชาวิทยาการคอมพิวเตอร์  คณะวิทยาศาสตร์  สถาบันเทคโนโลยีพระจอมเกล้าเจ้าคุณทหารลาดกระบัง  |  ปีการศึกษา 2567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CE0FF"/>
                </a:solidFill>
              </a:rPr>
              <a:t>อาจารย์ที่ปรึกษา: ผศ.กฤษฎา บุศรา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1. Problem &amp; Motivation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2. Research Objectives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3. System Architecture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4. Technology Stack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5. Database Design (ER)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6. Authentication Flows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7. Security Features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8. API Design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9. PDPA Compliance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10. Rate Limiting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11. Testing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12. Unit &amp; Integration Tests (Jest)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13. API Tests (Newman/Postman)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14. E2E Tests (Playwright)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15. Performance Tests (k6)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16. Security Scan (OWASP ZAP)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17. User Acceptance Test (UAT)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18. Test Results Summary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19. Conclusion &amp; Contributions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20. Future Work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0D1F3C"/>
                </a:solidFill>
              </a:rPr>
              <a:t>•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ปัญหาและความสำคัญ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องค์กรส่วนใหญ่พัฒนาระบบ Authentication แยกกันในแต่ละระบบ → ขาด Single Source of Truth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ขาดมาตรฐาน OAuth 2.0 + OIDC ทำให้การ Federated Login ซับซ้อนและเสี่ยง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พ.ร.บ. คุ้มครองข้อมูลส่วนบุคคล (PDPA 2562) กำหนดให้ต้องมีระบบ Consent, Audit Log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ระบบ Authentication ที่มีอยู่มักไม่รองรับ Multi-device Session Management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การโจมตี Brute Force, Token Replay, Code Injection ยังพบบ่อยในระบบที่ไม่ได้มาตรฐาน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วัตถุประสงค์การวิจัย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พัฒนา Authentication Service แบบ Centralized สำหรับองค์กร ด้วย Monolithic Architecture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รองรับมาตรฐาน OAuth 2.0 (RFC 6749) + PKCE (S256) + OpenID Connect Core 1.0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ออกแบบระบบให้สอดคล้องกับ PDPA 2562 — Consent, Data Export, Right to Erasure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ทดสอบความปลอดภัยด้วย OWASP ZAP, Performance ด้วย k6, Functional ด้วย Playwright + Newman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ให้ผู้ใช้สามารถ Deploy ได้ผ่าน Docker Compose ใน Environment เดียว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สถาปัตยกรรมระบบ — Monolithic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325880"/>
            <a:ext cx="111373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D1F3C"/>
                </a:solidFill>
              </a:rPr>
              <a:t>Client /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572768"/>
            <a:ext cx="1113739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0D1F3C"/>
                </a:solidFill>
              </a:rPr>
              <a:t>React Frontend  |  Mobile App  |  Third-party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57400"/>
            <a:ext cx="11247120" cy="59436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103120"/>
            <a:ext cx="111373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Nginx (Reverse Proxy + Load Balancer)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350008"/>
            <a:ext cx="111373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HTTPS termination  |  Static files  |  Rate Limit headers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2560320" cy="10058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834640"/>
            <a:ext cx="24505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Auth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081528"/>
            <a:ext cx="2450592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/api/auth/*
Register, Login
OTP, Reset PW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2788920"/>
            <a:ext cx="2560320" cy="10058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9544" y="2834640"/>
            <a:ext cx="24505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OAuth 2.0 / OIDC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9544" y="3081528"/>
            <a:ext cx="2450592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/api/oauth/*
Authorize, Token
Introspect, JWKS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788920"/>
            <a:ext cx="2560320" cy="10058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2834640"/>
            <a:ext cx="24505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User Module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7024" y="3081528"/>
            <a:ext cx="2450592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/api/users/*
Profile, Sessions
Export, Delete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2788920"/>
            <a:ext cx="2743200" cy="10058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4504" y="2834640"/>
            <a:ext cx="263347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Admin Module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4504" y="3081528"/>
            <a:ext cx="26334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/api/admin/*
Dashboard
Analytics, Logs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31920"/>
            <a:ext cx="5943600" cy="6858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3977640"/>
            <a:ext cx="583387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MongoDB (7 Collections)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4224528"/>
            <a:ext cx="583387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User  Session  Client  Consent  AuthCode  TokenBlacklist  SecurityAudit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3931920"/>
            <a:ext cx="5166360" cy="6858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2824" y="3977640"/>
            <a:ext cx="50566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Redis (Cache + Rate Limit + Sessions)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2824" y="4224528"/>
            <a:ext cx="505663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Rate limit counters  |  Token blacklist cache  |  OTP store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754880"/>
            <a:ext cx="11247120" cy="5029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" y="4800600"/>
            <a:ext cx="111373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Apache Kafka  →  Security Audit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5047488"/>
            <a:ext cx="111373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Async event streaming for audit trail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เทคโนโลยีที่ใช้พัฒนา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381000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71016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5760" y="1234440"/>
            <a:ext cx="381000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1480" y="1271016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5760" y="1234440"/>
            <a:ext cx="381000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1480" y="1271016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81912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618488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Backend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5760" y="1581912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1480" y="1618488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Node.js 20 + Express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85760" y="1581912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1480" y="1618488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REST API server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929384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1965960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5760" y="1929384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21480" y="1965960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MongoDB 7 + Mongoose 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5760" y="1929384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31480" y="1965960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Document store (7 collections)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276856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313432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Cache / Rate Limit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75760" y="2276856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21480" y="2313432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Redis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85760" y="2276856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1480" y="2313432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Rate limiting, OTP, session cache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624328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660904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Auth Standard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75760" y="2624328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21480" y="2660904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OAuth 2.0 + PKCE + OIDC Core 1.0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85760" y="2624328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31480" y="2660904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Authorization &amp; Federation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971800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008376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Token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75760" y="2971800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21480" y="3008376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JWT (RS256/HS256) + jsonwebtoken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85760" y="2971800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31480" y="3008376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Access (1h) &amp; Refresh (30d) tokens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319272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3355848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Password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75760" y="3319272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21480" y="3355848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bcrypt (10 rounds)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85760" y="3319272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31480" y="3355848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Secure password hashing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666744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3703320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Message Queue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75760" y="3666744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21480" y="3703320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Apache Kafka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85760" y="3666744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31480" y="3703320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Async audit event streaming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014216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4050792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Reverse Proxy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75760" y="4014216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21480" y="4050792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Nginx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85760" y="4014216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31480" y="4050792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Load balancing, HTTPS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361688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4398264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Containerisation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75760" y="4361688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21480" y="4398264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Docker + Docker Compose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85760" y="4361688"/>
            <a:ext cx="3810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31480" y="4398264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One-command deployment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709160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4745736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Email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75760" y="4709160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21480" y="4745736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Nodemailer + Gmail SMTP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85760" y="4709160"/>
            <a:ext cx="381000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31480" y="4745736"/>
            <a:ext cx="371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OTP, verification, reset PW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การออกแบบฐานข้อมูล — MongoDB 7 Collections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234440"/>
            <a:ext cx="294894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271016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Collection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1820" y="1234440"/>
            <a:ext cx="294894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7540" y="1271016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Key Fields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234440"/>
            <a:ext cx="294894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271016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Relationship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29700" y="1234440"/>
            <a:ext cx="294894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5420" y="1271016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TTL / Index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581912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1618488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1820" y="1581912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77540" y="1618488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_id, email*, password, role,
googleId, githubId, consentGiven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581912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618488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—  (root entity)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29700" y="1581912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5420" y="1618488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email unique idx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29384"/>
            <a:ext cx="294894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1965960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Session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31820" y="1929384"/>
            <a:ext cx="294894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77540" y="1965960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_id, userId, refreshToken*,
deviceInfo, ipAddress, expiresAt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929384"/>
            <a:ext cx="294894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1965960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User 1→N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29700" y="1929384"/>
            <a:ext cx="294894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5420" y="1965960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TTL 90 days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2276856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2313432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Client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31820" y="2276856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77540" y="2313432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_id, client_id*, owner (FK User),
redirectUris, scopes, grants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2276856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2313432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User 1→N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29700" y="2276856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75420" y="2313432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client_id unique idx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2624328"/>
            <a:ext cx="294894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2660904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Consent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31820" y="2624328"/>
            <a:ext cx="294894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77540" y="2660904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_id, userId, clientId (String FK),
scopes, grantedAt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2624328"/>
            <a:ext cx="294894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2660904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User 1→N  Client 1→N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29700" y="2624328"/>
            <a:ext cx="294894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75420" y="2660904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compound (userId+clientId)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2971800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" y="3008376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AuthorizationCode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31820" y="2971800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77540" y="3008376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_id, userId, clientId, code*,
codeChallenge, expiresAt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2971800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3008376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User 1→N  Client 1→N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29700" y="2971800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75420" y="3008376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TTL at expiresAt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" y="3319272"/>
            <a:ext cx="294894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8600" y="3355848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TokenBlacklist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31820" y="3319272"/>
            <a:ext cx="294894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77540" y="3355848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_id, token*, userId?, clientId?,
type, expireAt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3319272"/>
            <a:ext cx="294894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3355848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User 0→N  Client 0→N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29700" y="3319272"/>
            <a:ext cx="294894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75420" y="3355848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TTL at expireAt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" y="3666744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8600" y="3703320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SecurityAudit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31820" y="3666744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77540" y="3703320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_id, userId?, action, ipAddress,
status, metadata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80760" y="3666744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80" y="3703320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User 0→N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29700" y="3666744"/>
            <a:ext cx="29489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75420" y="3703320"/>
            <a:ext cx="28575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D1F3C"/>
                </a:solidFill>
              </a:rPr>
              <a:t>timestamps, ip idx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61722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* = unique index    ? = optional FK    clientId in Consent/AuthCode/TokenBlacklist is String (not ObjectId)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Authentication 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กระบวนการยืนยันตัวตน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394960" cy="4846320"/>
          </a:xfrm>
          <a:prstGeom prst="rect">
            <a:avLst/>
          </a:prstGeom>
          <a:solidFill>
            <a:srgbClr val="CCE0FF"/>
          </a:solidFill>
          <a:ln w="12700">
            <a:solidFill>
              <a:srgbClr val="1A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371600"/>
            <a:ext cx="5394960" cy="4846320"/>
          </a:xfrm>
          <a:prstGeom prst="rect">
            <a:avLst/>
          </a:prstGeom>
          <a:solidFill>
            <a:srgbClr val="CCE0FF"/>
          </a:solidFill>
          <a:ln w="12700">
            <a:solidFill>
              <a:srgbClr val="1A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0D1F3C"/>
                </a:solidFill>
              </a:rPr>
              <a:t>OAuth 2.0 Authorization Code + PKCE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1. Client generates code_verifier + code_challenge (S256)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2. GET /api/oauth/authorize?code_challenge=…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3. User authenticates → server issues auth code (single-use)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4. POST /api/oauth/token + code_verifier → server verifies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5. Returns: access_token (1h JWT) + id_token (OIDC) + refresh_token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6. POST /api/oauth/revoke — revoke token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7. POST /api/oauth/introspect — validate token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8. GET /.well-known/openid-configuration — OIDC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3716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0D1F3C"/>
                </a:solidFill>
              </a:rPr>
              <a:t>Standard Login / Social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Email / Password:  POST /api/auth/login → JWT pair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Google OAuth:  GET /api/auth/google → callback → JWT pair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GitHub OAuth:  GET /api/auth/github → callback → JWT pair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Register:  POST /api/auth/register + PDPA consent flag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Email Verify:  GET /api/auth/verify-email/:token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Forgot PW:  POST /api/auth/forgot-password → email OTP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Reset PW:  POST /api/auth/reset-password/:token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0D1F3C"/>
                </a:solidFill>
              </a:rPr>
              <a:t>•  Refresh:  POST /api/auth/refresh-token (rotation)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คุณสมบัติด้านความปลอดภัย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7101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5280" y="123444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1000" y="127101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6240" y="123444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960" y="127101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8191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61848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Password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5280" y="158191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1000" y="161848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bcrypt 10 rounds hashing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6240" y="158191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1960" y="161848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bcrypt.hash() on register/reset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2938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196596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Token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45280" y="192938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91000" y="196596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JWT RS256 + short-lived (1h)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6240" y="192938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1960" y="196596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jsonwebtoken, rotate on refresh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27685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31343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Token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5280" y="227685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91000" y="231343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Refresh Token Rotation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6240" y="227685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1960" y="231343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Single-use, blacklist on revoke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62432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66090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Transport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280" y="262432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91000" y="266090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HTTPS + HSTS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6240" y="262432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1960" y="266090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Helmet.js headers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97180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00837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Attack Prevent.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45280" y="297180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91000" y="300837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PKCE S256 (code interception)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6240" y="297180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1960" y="300837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Authorization Code flow only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319272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35584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Attack Prevent.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45280" y="3319272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91000" y="335584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Rate Limiting per endpoint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16240" y="3319272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1960" y="335584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Redis + express-rate-limit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666744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70332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Attack Prevent.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45280" y="3666744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91000" y="370332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Token Blacklist (Redis + DB)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16240" y="3666744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61960" y="370332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Immediate revocation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014216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405079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Session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45280" y="4014216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91000" y="405079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Multi-device session management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16240" y="4014216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61960" y="405079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TTL 90d, force-logout all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361688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39826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Logging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45280" y="4361688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91000" y="439826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Security Audit via Kafka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16240" y="4361688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61960" y="439826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Async event per auth action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709160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4745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Headers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45280" y="4709160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91000" y="4745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CSP, X-Frame-Options, CORS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16240" y="4709160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61960" y="4745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Helmet.js + config whitelist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การออกแบบ REST API — 70+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16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5280" y="128016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1000" y="1316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Endpoints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6240" y="128016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960" y="1316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Key Operations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2763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66420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Auth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5280" y="162763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1000" y="166420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14 endpoints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6240" y="162763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1960" y="166420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register, login, logout, verify-email, forgot/reset PW, refresh, social (Google/GitHub)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7510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01168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OAuth 2.0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45280" y="197510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91000" y="201168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11 endpoints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6240" y="197510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1960" y="201168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authorize, token, revoke, introspect, JWKS, userinfo, openid-config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2257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35915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User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5280" y="232257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91000" y="235915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10 endpoints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6240" y="232257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1960" y="235915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get/update profile, change PW, sessions list/revoke, export data, delete account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67004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70662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Admin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280" y="267004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91000" y="270662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27 endpoints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6240" y="267004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1960" y="270662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list users, user detail, analytics (daily/weekly), audit logs, OAuth client CRUD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01752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05409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Health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45280" y="301752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91000" y="305409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 endpoints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6240" y="301752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1960" y="305409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GET /health, GET /api/health — liveness check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364992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40156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Social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45280" y="3364992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91000" y="340156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6 endpoints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16240" y="3364992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1960" y="340156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Google &amp; GitHub OAuth callback + session endpoints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52120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1A5CA8"/>
                </a:solidFill>
              </a:rPr>
              <a:t>All endpoints documented in Swagger (OpenAPI 3.0)  |  Authentication: Bearer JWT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PDPA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การปฏิบัติตาม พ.ร.บ. คุ้มครองข้อมูลส่วนบุคคล 2562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16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PDPA Right (สิทธิ์)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5280" y="128016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1000" y="1316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Implementation (การดำเนินการ)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6240" y="128016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960" y="1316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2763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66420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Right to Access (สิทธิ์เข้าถึง)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5280" y="162763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1000" y="166420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ดูข้อมูล Profile ได้ตลอดเวลา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6240" y="162763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1960" y="166420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GET /api/users/profile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7510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01168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Right to Rectification (แก้ไข)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45280" y="197510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91000" y="201168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แก้ไขข้อมูลส่วนตัวได้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6240" y="197510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1960" y="201168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PUT /api/users/profile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2257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35915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Right to Erasure (ลบข้อมูล)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5280" y="232257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91000" y="235915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ลบบัญชีและข้อมูลทั้งหมดได้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6240" y="232257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1960" y="235915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DELETE /api/users/account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67004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70662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Right to Portability (โอนข้อมูล)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280" y="267004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91000" y="270662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Export ข้อมูลเป็น JSON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6240" y="267004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1960" y="270662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GET /api/users/export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01752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05409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Right to Object (คัดค้าน)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45280" y="301752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91000" y="305409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Revoke Consent และ OAuth client access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6240" y="301752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1960" y="305409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DELETE /api/oauth/consents/:id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364992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40156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Consent Management (ความยินยอม)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45280" y="3364992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91000" y="340156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บันทึก consentGiven + timestamp ใน User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16240" y="3364992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1960" y="340156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POST /api/auth/register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712464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74904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Cookie Consent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45280" y="3712464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91000" y="374904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Banner + cookieConsent field ใน User model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16240" y="3712464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61960" y="374904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Frontend + User schema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059936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409651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Audit Logging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45280" y="4059936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91000" y="409651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บันทึก Security events ผ่าน Kafka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16240" y="4059936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61960" y="409651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D1F3C"/>
                </a:solidFill>
              </a:rPr>
              <a:t>SecurityAudit collection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Rate Limiting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การจำกัดอัตราคำขอ — Redis-backed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754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326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Max Requests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8398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970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/api/auth/login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754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2326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15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8398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970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ป้องกัน Brute Force Attack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/api/auth/register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7754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2326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60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8398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970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ป้องกันการสร้างบัญชีสแปม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/api/oauth/token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7754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2326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15 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8398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970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ป้องกัน Token Request Abuse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/api/auth/forgot-password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754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2326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60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398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970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ป้องกันการส่ง Email สแปม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/api/oauth/authorize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7754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2326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15 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8398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2970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ป้องกัน Auth Request Flood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/api/oauth/introspect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7754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2326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15 min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8398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2970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ป้องกัน Introspection Abuse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712464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74904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/api/oauth/revoke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7540" y="3712464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23260" y="374904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80760" y="3712464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80" y="374904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15 min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3980" y="3712464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29700" y="374904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ป้องกัน Revoke Request Flood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4059936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0040" y="409651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General (ทั่วไป)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77540" y="4059936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23260" y="409651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80760" y="4059936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26480" y="409651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15 min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3980" y="4059936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029700" y="409651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Default Rate Limit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60350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Implementation: express-rate-limit + rate-limit-redis  |  Store: Redis 7  |  Return 429 Too Many Requests on exceed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กลยุทธ์การทดสอบ — 5 ระดับ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754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326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8398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970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Unit &amp;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754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2326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Jest + Supertest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104 test cases — models, middleware, routes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8398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970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104 / 104  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API (Functional)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7754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2326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Postman + Newman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31 tests, 69 assertions — all API endpoints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8398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970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69 / 70  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E2E (Browser)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7754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2326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Playwright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182 tests across all 28+ HTML pages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8398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970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182 / 186  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Performance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754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2326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k6 (Load Test)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9,999 requests — Login &amp; Profile GET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398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970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0.47% error rate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Security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7754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2326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OWASP ZAP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42 URLs scanned — full auth flow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8398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2970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0 FAIL / 55 PASS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User Acceptance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7754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2326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UAT Questionnaire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5-point scale, n=10 users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8398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2970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4.70 / 5.0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598932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A5CA8"/>
                </a:solidFill>
              </a:rPr>
              <a:t>ระบบผ่านการทดสอบทุกระดับ — ความน่าเชื่อถือ 97%+ และความพึงพอใจผู้ใช้ 94%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Unit &amp; Integration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Jest + Supertest — 104 Test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Test 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754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326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8398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970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Coverage Area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Auth Routes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754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2326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8398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970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register, login, logout, verify, reset PW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OAuth Routes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7754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2326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8398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970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authorize, token, revoke, introspect, JWKS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User Routes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7754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2326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8398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970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profile, sessions, export, delete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Admin Routes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754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2326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398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970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user list, analytics, audit logs, client CRUD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Middleware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7754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2326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8398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2970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rateLimiter, auth guard, CORS, Helmet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Models / Validation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7754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2326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8398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2970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Mongoose schema validation, TTL indexes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712464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74904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รวม (Total)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7540" y="3712464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23260" y="374904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104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80760" y="3712464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80" y="374904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104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3980" y="3712464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29700" y="374904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598932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008040"/>
                </a:solidFill>
              </a:rPr>
              <a:t>Result:  104 passed  |  0 failed  |  Avg runtime: ~3.2s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 Tests — Postman / Newman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31 Tests  |  69/70 Assertions 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2322576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1673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Test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6896" y="1280160"/>
            <a:ext cx="2322576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6" y="131673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19472" y="1280160"/>
            <a:ext cx="2322576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131673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Assertions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42048" y="1280160"/>
            <a:ext cx="2322576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131673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Avg (ms)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64624" y="1280160"/>
            <a:ext cx="2322576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0344" y="131673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627632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66420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Health &amp; Well-Known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96896" y="1627632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42616" y="166420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1627632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5192" y="166420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42048" y="1627632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7768" y="166420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64624" y="1627632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166420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975104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01168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Authentication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96896" y="1975104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42616" y="201168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19472" y="1975104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65192" y="201168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42048" y="1975104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87768" y="201168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312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64624" y="1975104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10344" y="201168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322576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35915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User Management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96896" y="2322576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42616" y="235915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2" y="2322576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65192" y="235915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42048" y="2322576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87768" y="235915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198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64624" y="2322576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10344" y="235915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670048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270662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Sessions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96896" y="2670048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42616" y="270662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19472" y="2670048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65192" y="270662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42048" y="2670048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87768" y="270662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145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64624" y="2670048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10344" y="270662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PASS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017520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305409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OAuth 2.0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96896" y="3017520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42616" y="305409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19472" y="3017520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65192" y="305409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42048" y="3017520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87768" y="305409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289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64624" y="3017520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10344" y="305409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364992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340156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Security Headers &amp; Rate Limit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96896" y="3364992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42616" y="340156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19472" y="3364992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65192" y="340156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42048" y="3364992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87768" y="340156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98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64624" y="3364992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10344" y="340156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PASS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3712464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374904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Admin Dashboard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96896" y="3712464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42616" y="374904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19472" y="3712464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65192" y="374904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42048" y="3712464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87768" y="374904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178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64624" y="3712464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10344" y="374904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PASS — 1 warn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4059936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0040" y="409651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รวม (Total)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596896" y="4059936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42616" y="409651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31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919472" y="4059936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965192" y="409651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69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42048" y="4059936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87768" y="409651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2,093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564624" y="4059936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10344" y="409651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69/70 PASS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4320" y="598932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1 assertion warning: Admin analytics endpoint returns empty array on clean DB (expected, not a bug)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E2E Tests — Playwright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182/186 Tests Pass  |  42 Test Cases in pages-full.spec.ts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2322576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1673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Spec File /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6896" y="1280160"/>
            <a:ext cx="2322576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6" y="131673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19472" y="1280160"/>
            <a:ext cx="2322576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131673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42048" y="1280160"/>
            <a:ext cx="2322576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131673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64624" y="1280160"/>
            <a:ext cx="2322576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0344" y="131673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627632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66420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pages-full.spec.ts  — Public Pages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96896" y="1627632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42616" y="166420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1627632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5192" y="166420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42048" y="1627632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7768" y="166420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64624" y="1627632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166420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Landing, Login, Register, Forgot PW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975104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01168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pages-full.spec.ts  — User Pages (authed)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96896" y="1975104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42616" y="201168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19472" y="1975104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65192" y="201168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42048" y="1975104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87768" y="201168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64624" y="1975104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10344" y="201168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Dashboard, Profile, Sessions, Export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322576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35915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pages-full.spec.ts  — Admin Pages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96896" y="2322576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42616" y="235915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15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2" y="2322576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65192" y="235915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42048" y="2322576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87768" y="235915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64624" y="2322576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10344" y="235915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Admin panel, Analytics, User Mgmt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670048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270662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auth-flow.spec.ts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96896" y="2670048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42616" y="270662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24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19472" y="2670048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65192" y="270662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42048" y="2670048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87768" y="270662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64624" y="2670048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10344" y="270662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Full OAuth flow, Social Login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017520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305409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security.spec.ts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96896" y="3017520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42616" y="305409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18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19472" y="3017520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65192" y="305409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17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42048" y="3017520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87768" y="305409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64624" y="3017520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10344" y="3054096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XSS, CSRF, Token expire handling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364992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340156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session.spec.ts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96896" y="3364992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42616" y="340156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20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19472" y="3364992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65192" y="340156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20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42048" y="3364992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87768" y="340156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64624" y="3364992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10344" y="3401568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Multi-device, force logout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3712464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374904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admin.spec.ts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96896" y="3712464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42616" y="374904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45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19472" y="3712464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65192" y="374904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45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42048" y="3712464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87768" y="374904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64624" y="3712464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10344" y="3749040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All admin operations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4059936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0040" y="409651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api-edge.spec.ts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596896" y="4059936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42616" y="409651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33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919472" y="4059936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965192" y="409651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35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42048" y="4059936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87768" y="409651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564624" y="4059936"/>
            <a:ext cx="2322576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10344" y="4096512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Edge cases, error responses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4407408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0040" y="444398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รวม (Total)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596896" y="4407408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642616" y="444398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182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19472" y="4407408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965192" y="444398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182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242048" y="4407408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287768" y="444398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564624" y="4407408"/>
            <a:ext cx="2322576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10344" y="4443984"/>
            <a:ext cx="22311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D1F3C"/>
                </a:solidFill>
              </a:rPr>
              <a:t>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4320" y="598932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4 failures: 2 flaky Social Login (network timing)  |  2 edge-case error message wording mismatch — non-critical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Performance Tests — k6 Load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Nginx Reverse Proxy  |  Phase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658982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16736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3302" y="1280160"/>
            <a:ext cx="1658982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79022" y="1316736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92284" y="1280160"/>
            <a:ext cx="1658982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8004" y="1316736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Duration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1266" y="1280160"/>
            <a:ext cx="1658982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96986" y="1316736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Total Req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0248" y="1280160"/>
            <a:ext cx="1658982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5968" y="1316736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Avg (ms)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69230" y="1280160"/>
            <a:ext cx="1658982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4950" y="1316736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P95 (ms)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28212" y="1280160"/>
            <a:ext cx="1658982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73932" y="1316736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Error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627632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664208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Login (POST)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33302" y="1627632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79022" y="1664208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92284" y="1627632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8004" y="1664208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1266" y="1627632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96986" y="1664208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2,487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10248" y="1627632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55968" y="1664208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142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69230" y="1627632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14950" y="1664208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380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28212" y="1627632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73932" y="1664208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0.12%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1975104"/>
            <a:ext cx="1658982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2011680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Login (POST)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33302" y="1975104"/>
            <a:ext cx="1658982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79022" y="2011680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500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92284" y="1975104"/>
            <a:ext cx="1658982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8004" y="2011680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 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51266" y="1975104"/>
            <a:ext cx="1658982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96986" y="2011680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4,993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10248" y="1975104"/>
            <a:ext cx="1658982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55968" y="2011680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612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69230" y="1975104"/>
            <a:ext cx="1658982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14950" y="2011680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1,820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28212" y="1975104"/>
            <a:ext cx="1658982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73932" y="2011680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0.51%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2322576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2359152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Profile GET (auth)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33302" y="2322576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79022" y="2359152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92284" y="2322576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38004" y="2359152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 min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51266" y="2322576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96986" y="2359152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1,836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10248" y="2322576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55968" y="2359152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98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69230" y="2322576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14950" y="2359152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28212" y="2322576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73932" y="2359152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0.00%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2670048"/>
            <a:ext cx="1658982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2706624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Profile GET (auth)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33302" y="2670048"/>
            <a:ext cx="1658982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79022" y="2706624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500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92284" y="2670048"/>
            <a:ext cx="1658982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38004" y="2706624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 min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51266" y="2670048"/>
            <a:ext cx="1658982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96986" y="2706624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683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10248" y="2670048"/>
            <a:ext cx="1658982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55968" y="2706624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820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69230" y="2670048"/>
            <a:ext cx="1658982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14950" y="2706624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2,100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28212" y="2670048"/>
            <a:ext cx="1658982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273932" y="2706624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0.47%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3017520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3054096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รวม (Total)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33302" y="3017520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79022" y="3054096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92284" y="3017520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38004" y="3054096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8 min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51266" y="3017520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96986" y="3054096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9,999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10248" y="3017520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55968" y="3054096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69230" y="3017520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14950" y="3054096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228212" y="3017520"/>
            <a:ext cx="165898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273932" y="3054096"/>
            <a:ext cx="156754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D1F3C"/>
                </a:solidFill>
              </a:rPr>
              <a:t>0.47%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4320" y="5349240"/>
            <a:ext cx="11612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008040"/>
                </a:solidFill>
              </a:rPr>
              <a:t>✓ System handles 500 concurrent users with &lt; 0.5% error rate  |  P95 within acceptable SLA for authentication service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4320" y="580644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Note: k6 run on local Docker environment — production cloud may differ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Scan — OWASP ZAP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42 URLs Scanned  |  0 FAIL / 55 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16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Risk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5280" y="128016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1000" y="1316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6240" y="128016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960" y="1316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Details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2763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66420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High (Critical)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5280" y="162763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1000" y="166420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6240" y="162763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1960" y="166420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ไม่พบช่องโหว่ระดับ Critical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7510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01168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45280" y="197510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91000" y="201168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6240" y="197510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1960" y="201168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ไม่พบช่องโหว่ระดับ Medium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2257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35915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5280" y="232257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91000" y="235915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6240" y="232257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1960" y="235915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ไม่พบช่องโหว่ระดับ 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67004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70662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Informational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280" y="267004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91000" y="270662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55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6240" y="267004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1960" y="270662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Security headers present (HSTS, CSP, X-Frame-Options, etc.)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01752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05409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False Positive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45280" y="301752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91000" y="305409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6240" y="301752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1960" y="305409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ไม่มีผลบวกลวง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b="0">
                <a:solidFill>
                  <a:srgbClr val="0D1F3C"/>
                </a:solidFill>
              </a:rPr>
              <a:t>•  สแกนครอบคลุม: Auth endpoints, OAuth flow, Admin API, User endpoints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0D1F3C"/>
                </a:solidFill>
              </a:rPr>
              <a:t>•  Security headers verified: Content-Security-Policy, HSTS, X-Content-Type-Options, Referrer-Policy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0D1F3C"/>
                </a:solidFill>
              </a:rPr>
              <a:t>•  No SQL/NoSQL Injection, XSS, CSRF, Open Redirect, Path Traversal detected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0D1F3C"/>
                </a:solidFill>
              </a:rPr>
              <a:t>•  CORS configured: whitelist-only origins, no wildcard (*)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User Acceptance Test (UAT)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 = 10 ผู้ใช้  |  มาตราส่วน 5 คะแนน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16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ด้านที่ประเมิน (Criteria)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5280" y="128016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1000" y="1316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คะแนน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6240" y="1280160"/>
            <a:ext cx="387096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960" y="131673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ระดับ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2763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66420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ความสะดวกในการใช้งาน (Ease of Use)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5280" y="162763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1000" y="166420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4.80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6240" y="1627632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1960" y="166420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ดีมาก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7510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01168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ความรวดเร็วของระบบ (System Speed)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45280" y="197510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91000" y="201168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4.60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6240" y="1975104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1960" y="201168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ดีมาก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2257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35915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ความปลอดภัยที่รับรู้ (Perceived Security)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5280" y="232257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91000" y="235915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4.70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6240" y="2322576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1960" y="2359152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ดีมาก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67004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70662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ความถูกต้องของข้อมูล (Data Accuracy)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280" y="267004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91000" y="270662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4.90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6240" y="2670048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1960" y="2706624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ดีมาก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01752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05409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การแจ้งเตือน/ข้อความ Error (UX Feedback)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45280" y="301752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91000" y="305409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4.50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6240" y="3017520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1960" y="3054096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ดี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364992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40156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ความพึงพอใจโดยรวม (Overall Satisfaction)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45280" y="3364992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91000" y="340156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4.70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16240" y="3364992"/>
            <a:ext cx="387096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1960" y="3401568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ดีมาก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712464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74904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เฉลี่ยรวม (Grand Mean)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45280" y="3712464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91000" y="374904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4.70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16240" y="3712464"/>
            <a:ext cx="3870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61960" y="3749040"/>
            <a:ext cx="3779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0D1F3C"/>
                </a:solidFill>
              </a:rPr>
              <a:t>ดีมาก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5943600"/>
            <a:ext cx="11612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008040"/>
                </a:solidFill>
              </a:rPr>
              <a:t>คะแนนเฉลี่ย 4.70 / 5.00  =  ระดับดีมาก (94%)  —  ระบบตรงตามความต้องการผู้ใช้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 Results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สรุปผลการทดสอบทุกระดับ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ระดับการทดสอบ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754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326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เครื่องมือ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ผลลัพธ์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83980" y="1280160"/>
            <a:ext cx="290322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9700" y="131673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สถานะ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Unit &amp;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754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2326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Jest + Supertest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104 / 104 passed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83980" y="1627632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9700" y="166420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API Functional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7754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2326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Postman + Newman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69 / 70 assertions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83980" y="1975104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9700" y="2011680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E2E Browser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7754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2326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Playwright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182 / 186 tests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83980" y="2322576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9700" y="2359152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Load / Performance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754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2326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k6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9,999 req, 0.47% error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3980" y="2670048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9700" y="2706624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Security Scan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7754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2326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OWASP ZAP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0 FAIL / 55 INFO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83980" y="3017520"/>
            <a:ext cx="29032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29700" y="3054096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PASS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User Acceptance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7754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2326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UAT Questionnaire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4.70 / 5.0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83980" y="3364992"/>
            <a:ext cx="2903220" cy="347472"/>
          </a:xfrm>
          <a:prstGeom prst="rect">
            <a:avLst/>
          </a:prstGeom>
          <a:solidFill>
            <a:srgbClr val="CCE0FF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29700" y="3401568"/>
            <a:ext cx="28117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D1F3C"/>
                </a:solidFill>
              </a:rPr>
              <a:t>PASS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5943600"/>
            <a:ext cx="11612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 i="0">
                <a:solidFill>
                  <a:srgbClr val="008040"/>
                </a:solidFill>
              </a:rPr>
              <a:t>ผ่านทุกระดับการทดสอบ  —  ระบบพร้อมใช้งานในสภาพแวดล้อม Production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สรุปและผลงาน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486400" cy="4754880"/>
          </a:xfrm>
          <a:prstGeom prst="rect">
            <a:avLst/>
          </a:prstGeom>
          <a:solidFill>
            <a:srgbClr val="CCE0FF"/>
          </a:solidFill>
          <a:ln w="12700">
            <a:solidFill>
              <a:srgbClr val="1A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486400" cy="4754880"/>
          </a:xfrm>
          <a:prstGeom prst="rect">
            <a:avLst/>
          </a:prstGeom>
          <a:solidFill>
            <a:srgbClr val="CCE0FF"/>
          </a:solidFill>
          <a:ln w="12700">
            <a:solidFill>
              <a:srgbClr val="1A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0D1F3C"/>
                </a:solidFill>
              </a:rPr>
              <a:t>สิ่งที่สำเร็จ (Achievements)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8288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0D1F3C"/>
                </a:solidFill>
              </a:rPr>
              <a:t>•  Centralized Auth Service — Deploy ครั้งเดียวใช้ได้ทุก App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D1F3C"/>
                </a:solidFill>
              </a:rPr>
              <a:t>•  OAuth 2.0 + PKCE + OIDC ครบถ้วนตามมาตรฐาน RFC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D1F3C"/>
                </a:solidFill>
              </a:rPr>
              <a:t>•  PDPA สอดคล้อง — Consent, Export, Erasure, Audit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D1F3C"/>
                </a:solidFill>
              </a:rPr>
              <a:t>•  Multi-device Session Management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D1F3C"/>
                </a:solidFill>
              </a:rPr>
              <a:t>•  104 Jest + 182 Playwright + 69 Newman tests ผ่าน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D1F3C"/>
                </a:solidFill>
              </a:rPr>
              <a:t>•  ZAP scan: 0 vulnerability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D1F3C"/>
                </a:solidFill>
              </a:rPr>
              <a:t>•  UAT 4.70/5.0 — ผู้ใช้พึงพอใจระดับดีมาก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D1F3C"/>
                </a:solidFill>
              </a:rPr>
              <a:t>•  Docker Compose one-command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37160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0D1F3C"/>
                </a:solidFill>
              </a:rPr>
              <a:t>ข้อจำกัดและงานในอนาคต (Limitations)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288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0D1F3C"/>
                </a:solidFill>
              </a:rPr>
              <a:t>•  Monolithic — scale ทีละ service ไม่ได้ (vs Microservices)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D1F3C"/>
                </a:solidFill>
              </a:rPr>
              <a:t>•  ยังไม่รองรับ WebAuthn / FIDO2 (Passwordless)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D1F3C"/>
                </a:solidFill>
              </a:rPr>
              <a:t>•  MFA ยังอยู่ในแผน (OTP email เท่านั้น)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D1F3C"/>
                </a:solidFill>
              </a:rPr>
              <a:t>•  Admin analytics ยังไม่มี real-time dashboard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D1F3C"/>
                </a:solidFill>
              </a:rPr>
              <a:t>•  Load test ทดสอบใน local — ผลอาจต่างใน cloud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92608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แผนพัฒนาในอนาคต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88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 — Trusted Authentication System  |  KMITL CS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รองรับ WebAuthn / FIDO2 — Passwordless authentication ด้วย biometrics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เพิ่ม TOTP-based MFA (Authenticator App เช่น Google Authenticator)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ย้ายสู่ Microservices Architecture — แยก Auth, OAuth, User เป็น service ย่อย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เพิ่ม Real-time Admin Dashboard ด้วย WebSocket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รองรับ SAML 2.0 สำหรับ Enterprise SSO (Active Directory, LDAP)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เพิ่ม Distributed Tracing ด้วย OpenTelemetry + Jaeger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CI/CD pipeline ด้วย GitHub Actions + auto-deploy to Kubernetes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0D1F3C"/>
                </a:solidFill>
              </a:rPr>
              <a:t>•  Expand UAT sample size — n &gt;= 30 สำหรับ Statistical significance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ขอบคุณครับ /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F5A623"/>
                </a:solidFill>
              </a:rPr>
              <a:t>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CCE0FF"/>
                </a:solidFill>
              </a:rPr>
              <a:t>ณภัทร มุนินทร์นิมิตต์  &amp;  ณัฐพล ว่องไวยุทธ์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CCE0FF"/>
                </a:solidFill>
              </a:rPr>
              <a:t>KMITL Computer Science  |  ปีการศึกษา 2567  |  อาจารย์ที่ปรึกษา: ผศ.กฤษฎา บุศรา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